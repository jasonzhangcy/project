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OpenAI（Codex）洞察：走向个人通用智能，代码智能体是执行内核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65760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5D0DC"/>
                </a:solidFill>
                <a:latin typeface="微软雅黑"/>
                <a:ea typeface="微软雅黑"/>
                <a:cs typeface="微软雅黑"/>
              </a:rPr>
              <a:t>基于 Codex 负责人 Tibo 访谈  ·  形态越来越简单，底座越来越像一台能写代码的云端操作系统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164592"/>
            <a:ext cx="1389888" cy="329184"/>
          </a:xfrm>
          <a:prstGeom prst="roundRect">
            <a:avLst>
              <a:gd name="adj" fmla="val 16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未来判断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804672"/>
            <a:ext cx="4370832" cy="310896"/>
          </a:xfrm>
          <a:prstGeom prst="roundRect">
            <a:avLst>
              <a:gd name="adj" fmla="val 10000"/>
            </a:avLst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  ·  Codex 仍是过渡形态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6592" y="804672"/>
            <a:ext cx="7242048" cy="310896"/>
          </a:xfrm>
          <a:prstGeom prst="roundRect">
            <a:avLst>
              <a:gd name="adj" fmla="val 10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未来  ·  收敛为一个极简入口，代码沉到底座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152" y="804672"/>
            <a:ext cx="22860" cy="5742432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" y="1188720"/>
            <a:ext cx="4370832" cy="365760"/>
          </a:xfrm>
          <a:prstGeom prst="roundRect">
            <a:avLst>
              <a:gd name="adj" fmla="val 10000"/>
            </a:avLst>
          </a:prstGeom>
          <a:solidFill>
            <a:srgbClr val="F7E9DC"/>
          </a:solidFill>
          <a:ln w="14604">
            <a:solidFill>
              <a:srgbClr val="C46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480A"/>
                </a:solidFill>
                <a:latin typeface="微软雅黑"/>
                <a:ea typeface="微软雅黑"/>
                <a:cs typeface="微软雅黑"/>
              </a:rPr>
              <a:t>今天的 Codex 很快会显得原始：人还在替智能体管理系统。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" y="164592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145">
            <a:solidFill>
              <a:srgbClr val="2C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0116" bIns="201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C5A86"/>
                </a:solidFill>
                <a:latin typeface="微软雅黑"/>
                <a:ea typeface="微软雅黑"/>
                <a:cs typeface="微软雅黑"/>
              </a:rPr>
              <a:t>ChatGPT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负责理解你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86384" y="2304288"/>
            <a:ext cx="201168" cy="164592"/>
          </a:xfrm>
          <a:prstGeom prst="downArrow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00784" y="164592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145">
            <a:solidFill>
              <a:srgbClr val="1E6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0116" bIns="201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6E6A"/>
                </a:solidFill>
                <a:latin typeface="微软雅黑"/>
                <a:ea typeface="微软雅黑"/>
                <a:cs typeface="微软雅黑"/>
              </a:rPr>
              <a:t>Codex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负责动手执行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86000" y="2304288"/>
            <a:ext cx="201168" cy="164592"/>
          </a:xfrm>
          <a:prstGeom prst="downArrow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64592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145">
            <a:solidFill>
              <a:srgbClr val="6A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0116" bIns="2011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A6F78"/>
                </a:solidFill>
                <a:latin typeface="微软雅黑"/>
                <a:ea typeface="微软雅黑"/>
                <a:cs typeface="微软雅黑"/>
              </a:rPr>
              <a:t>办公类入口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邮件 / 文档 / 流程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785616" y="2304288"/>
            <a:ext cx="201168" cy="164592"/>
          </a:xfrm>
          <a:prstGeom prst="downArrow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1168" y="2505456"/>
            <a:ext cx="43708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B54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2505456"/>
            <a:ext cx="73152" cy="1078992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560320"/>
            <a:ext cx="4151376" cy="969264"/>
          </a:xfrm>
          <a:prstGeom prst="rect">
            <a:avLst/>
          </a:prstGeom>
          <a:noFill/>
        </p:spPr>
        <p:txBody>
          <a:bodyPr wrap="square" lIns="36576" rIns="36576" tIns="20116" bIns="2011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B54A3C"/>
                </a:solidFill>
                <a:latin typeface="微软雅黑"/>
                <a:ea typeface="微软雅黑"/>
                <a:cs typeface="微软雅黑"/>
              </a:rPr>
              <a:t>人  =  智能体的系统管理员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手动维护  Skills  ·  记忆  ·  子智能体  ·  工具权限  ·  并行任务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接缝一断，「它真的懂我」就会破裂。模型越强，人越不该管这些。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249424" y="3621024"/>
            <a:ext cx="256032" cy="164592"/>
          </a:xfrm>
          <a:prstGeom prst="downArrow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1168" y="3822191"/>
            <a:ext cx="4370832" cy="64008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" bIns="5029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本机软件成为上限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笔记本按人类速度设计  ·  并行一多，人就变成调度员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4572000"/>
            <a:ext cx="21031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608" y="4700016"/>
            <a:ext cx="256032" cy="256032"/>
          </a:xfrm>
          <a:prstGeom prst="ellipse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68172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双入口尚未合一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4992624"/>
            <a:ext cx="1883664" cy="42062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一个应用、两套工作台，历史仍分开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572000"/>
            <a:ext cx="21031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0320" y="4700016"/>
            <a:ext cx="256032" cy="256032"/>
          </a:xfrm>
          <a:prstGeom prst="ellipse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68172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配置仍在用户侧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4992624"/>
            <a:ext cx="1883664" cy="42062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Skills / 记忆 / 子智能体还是显式零件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" y="5559552"/>
            <a:ext cx="21031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608" y="5687568"/>
            <a:ext cx="256032" cy="256032"/>
          </a:xfrm>
          <a:prstGeom prst="ellipse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5669280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程序员是首批用户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5980176"/>
            <a:ext cx="1883664" cy="42062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约 2000 万，代码能力刚向全员打开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5559552"/>
            <a:ext cx="21031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60320" y="5687568"/>
            <a:ext cx="256032" cy="256032"/>
          </a:xfrm>
          <a:prstGeom prst="ellipse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928" y="5669280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办公与代码仍分叉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8608" y="5980176"/>
            <a:ext cx="1883664" cy="42062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按场景切开是现在，不是终局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1170432"/>
            <a:ext cx="7242048" cy="201168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形态趋势  ·  从编程工具收敛为一个极简应用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6592" y="1389888"/>
            <a:ext cx="1618488" cy="1078992"/>
          </a:xfrm>
          <a:prstGeom prst="roundRect">
            <a:avLst>
              <a:gd name="adj" fmla="val 10000"/>
            </a:avLst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28032" y="14813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4365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5776" y="1463040"/>
            <a:ext cx="1216152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独立 Codex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1755648"/>
            <a:ext cx="1453896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IDE / 插件 / 命令行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2066544"/>
            <a:ext cx="1453896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人管智能体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409944" y="1847088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11112" y="1389888"/>
            <a:ext cx="1618488" cy="1078992"/>
          </a:xfrm>
          <a:prstGeom prst="roundRect">
            <a:avLst>
              <a:gd name="adj" fmla="val 10000"/>
            </a:avLst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02552" y="14813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6CA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296" y="1463040"/>
            <a:ext cx="1216152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双入口融合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552" y="1755648"/>
            <a:ext cx="1453896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一个应用，两个工作台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2066544"/>
            <a:ext cx="1453896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边界开始消失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284464" y="1847088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85632" y="1389888"/>
            <a:ext cx="1618488" cy="1078992"/>
          </a:xfrm>
          <a:prstGeom prst="roundRect">
            <a:avLst>
              <a:gd name="adj" fmla="val 10000"/>
            </a:avLst>
          </a:prstGeom>
          <a:solidFill>
            <a:srgbClr val="0F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77072" y="14813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7A7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4816" y="1463040"/>
            <a:ext cx="1216152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自适应智能体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1755648"/>
            <a:ext cx="1453896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同一入口，按角色适配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7072" y="2066544"/>
            <a:ext cx="1453896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壳在变，核不变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10158984" y="1847088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360152" y="1389888"/>
            <a:ext cx="1618488" cy="1078992"/>
          </a:xfrm>
          <a:prstGeom prst="roundRect">
            <a:avLst>
              <a:gd name="adj" fmla="val 10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51592" y="14813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46B14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89336" y="1463040"/>
            <a:ext cx="1216152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个人通用智能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51592" y="1755648"/>
            <a:ext cx="1453896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极简入口 · 语音优先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51592" y="2066544"/>
            <a:ext cx="1453896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智能体自己管自己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36592" y="2560320"/>
            <a:ext cx="7242048" cy="201168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为何代码智能体是内核  ·  上简、中同、下码、底云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36592" y="2834640"/>
            <a:ext cx="7242048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0116" bIns="201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个人通用智能  ·  极简入口        长期理解你  ·  自主完成任务  ·  不必知道在用哪个产品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6592" y="3328416"/>
            <a:ext cx="7242048" cy="182880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同一套底层 AI，按身份 / 工具 / 权限自动适配界面  ·  不再先选「办公」或「代码」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91456" y="3529584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B6CA8"/>
                </a:solidFill>
                <a:latin typeface="微软雅黑"/>
                <a:ea typeface="微软雅黑"/>
                <a:cs typeface="微软雅黑"/>
              </a:rPr>
              <a:t>程序员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开发环境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36208" y="3529584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2B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B7A8A"/>
                </a:solidFill>
                <a:latin typeface="微软雅黑"/>
                <a:ea typeface="微软雅黑"/>
                <a:cs typeface="微软雅黑"/>
              </a:rPr>
              <a:t>设计师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画布 / 设计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80960" y="3529584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D6B8A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文档 / 需求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25712" y="3529584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4A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4A6A7C"/>
                </a:solidFill>
                <a:latin typeface="微软雅黑"/>
                <a:ea typeface="微软雅黑"/>
                <a:cs typeface="微软雅黑"/>
              </a:rPr>
              <a:t>销售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邮件 / 客户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570464" y="3529584"/>
            <a:ext cx="13533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5C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C6E7A"/>
                </a:solidFill>
                <a:latin typeface="微软雅黑"/>
                <a:ea typeface="微软雅黑"/>
                <a:cs typeface="微软雅黑"/>
              </a:rPr>
              <a:t>普通人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简洁对话框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36592" y="4078224"/>
            <a:ext cx="7242048" cy="621792"/>
          </a:xfrm>
          <a:prstGeom prst="roundRect">
            <a:avLst>
              <a:gd name="adj" fmla="val 8000"/>
            </a:avLst>
          </a:prstGeom>
          <a:solidFill>
            <a:srgbClr val="0F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0175" bIns="30175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统一运行底座（Harness）  ·  底层技术 / 运行时 / 设计哲学完全相同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7F3F0"/>
                </a:solidFill>
                <a:latin typeface="微软雅黑"/>
                <a:ea typeface="微软雅黑"/>
                <a:cs typeface="微软雅黑"/>
              </a:rPr>
              <a:t>Skills  ·  记忆  ·  权限  ·  子任务     从「用户配置项」变成「系统内部件」——模型越强，用户越不用干预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36592" y="4791456"/>
            <a:ext cx="7242048" cy="914400"/>
          </a:xfrm>
          <a:prstGeom prst="roundRect">
            <a:avLst>
              <a:gd name="adj" fmla="val 8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  =  AI 操作数字世界的机器语言      ★ 执行内核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0D6"/>
                </a:solidFill>
                <a:latin typeface="微软雅黑"/>
                <a:ea typeface="微软雅黑"/>
                <a:cs typeface="微软雅黑"/>
              </a:rPr>
              <a:t>自然语言  →  代码 / API / 脚本 / 浏览器 / 云端任务      办公是外壳，代码才是改世界的那一层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程序员只是首批受用群体  ·  最终覆盖所有知识工作者与普通用户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36592" y="4791456"/>
            <a:ext cx="91440" cy="914400"/>
          </a:xfrm>
          <a:prstGeom prst="rect">
            <a:avLst/>
          </a:prstGeom>
          <a:solidFill>
            <a:srgbClr val="F0D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736592" y="5797296"/>
            <a:ext cx="7242048" cy="493776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0175" bIns="30175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云端智能体工厂      本机只是入口  ·  真正干活的是云端并行执行（同时探索方案 / 编译 / 验证）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168" y="6601968"/>
            <a:ext cx="11795760" cy="201168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来源：OpenAI Codex 负责人 Tibo Sottiaux × Matthew Berman 访谈（2026.08）  ·  「个人通用智能」指统一入口与长期适应的产品形态，并非宣称 AGI 已经实现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OpenAI（Codex）洞察：走向个人通用智能，代码智能体是执行内核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65760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5D0DC"/>
                </a:solidFill>
                <a:latin typeface="微软雅黑"/>
                <a:ea typeface="微软雅黑"/>
                <a:cs typeface="微软雅黑"/>
              </a:rPr>
              <a:t>基于 Codex 负责人 Tibo 访谈  ·  形态越来越简单，底座越来越像一台能写代码的云端操作系统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164592"/>
            <a:ext cx="1389888" cy="329184"/>
          </a:xfrm>
          <a:prstGeom prst="roundRect">
            <a:avLst>
              <a:gd name="adj" fmla="val 16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未来全幅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804672"/>
            <a:ext cx="11686032" cy="310896"/>
          </a:xfrm>
          <a:prstGeom prst="roundRect">
            <a:avLst>
              <a:gd name="adj" fmla="val 10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未来  ·  走向个人通用智能，前提是代码智能体成为执行内核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188720"/>
            <a:ext cx="11686032" cy="219456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形态趋势  ·  从编程工具收敛为一个极简应用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426464"/>
            <a:ext cx="2729484" cy="1078992"/>
          </a:xfrm>
          <a:prstGeom prst="roundRect">
            <a:avLst>
              <a:gd name="adj" fmla="val 10000"/>
            </a:avLst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" y="151790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4365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499616"/>
            <a:ext cx="2327148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独立 Codex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792224"/>
            <a:ext cx="2564892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IDE / 插件 / 命令行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103120"/>
            <a:ext cx="256489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人管智能体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0380" y="1883664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1548" y="1426464"/>
            <a:ext cx="2729484" cy="1078992"/>
          </a:xfrm>
          <a:prstGeom prst="roundRect">
            <a:avLst>
              <a:gd name="adj" fmla="val 10000"/>
            </a:avLst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32988" y="151790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6CA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0732" y="1499616"/>
            <a:ext cx="2327148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双入口融合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2988" y="1792224"/>
            <a:ext cx="2564892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一个应用，两个工作台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2988" y="2103120"/>
            <a:ext cx="256489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边界开始消失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25896" y="1883664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7064" y="1426464"/>
            <a:ext cx="2729484" cy="1078992"/>
          </a:xfrm>
          <a:prstGeom prst="roundRect">
            <a:avLst>
              <a:gd name="adj" fmla="val 10000"/>
            </a:avLst>
          </a:prstGeom>
          <a:solidFill>
            <a:srgbClr val="0F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18504" y="151790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7A7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1499616"/>
            <a:ext cx="2327148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自适应智能体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1792224"/>
            <a:ext cx="2564892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同一入口，按角色适配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103120"/>
            <a:ext cx="256489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壳在变，核不变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11412" y="1883664"/>
            <a:ext cx="146304" cy="164592"/>
          </a:xfrm>
          <a:prstGeom prst="rightArrow">
            <a:avLst/>
          </a:prstGeom>
          <a:solidFill>
            <a:srgbClr val="B8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12580" y="1426464"/>
            <a:ext cx="2729484" cy="1078992"/>
          </a:xfrm>
          <a:prstGeom prst="roundRect">
            <a:avLst>
              <a:gd name="adj" fmla="val 10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04020" y="1517904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46B14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1764" y="1499616"/>
            <a:ext cx="2327148" cy="256032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个人通用智能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4020" y="1792224"/>
            <a:ext cx="2564892" cy="310896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F0F5"/>
                </a:solidFill>
                <a:latin typeface="微软雅黑"/>
                <a:ea typeface="微软雅黑"/>
                <a:cs typeface="微软雅黑"/>
              </a:rPr>
              <a:t>极简入口 · 语音优先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4020" y="2103120"/>
            <a:ext cx="2564892" cy="32918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智能体自己管自己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2615184"/>
            <a:ext cx="6583680" cy="219456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为何代码智能体是内核  ·  上简、中同、下码、底云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18704" y="2596896"/>
            <a:ext cx="914400" cy="256032"/>
          </a:xfrm>
          <a:prstGeom prst="roundRect">
            <a:avLst>
              <a:gd name="adj" fmla="val 18000"/>
            </a:avLst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6256" y="2596896"/>
            <a:ext cx="914400" cy="256032"/>
          </a:xfrm>
          <a:prstGeom prst="roundRect">
            <a:avLst>
              <a:gd name="adj" fmla="val 18000"/>
            </a:avLst>
          </a:prstGeom>
          <a:solidFill>
            <a:srgbClr val="0F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93808" y="2596896"/>
            <a:ext cx="914400" cy="256032"/>
          </a:xfrm>
          <a:prstGeom prst="roundRect">
            <a:avLst>
              <a:gd name="adj" fmla="val 18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81360" y="2596896"/>
            <a:ext cx="914400" cy="256032"/>
          </a:xfrm>
          <a:prstGeom prst="roundRect">
            <a:avLst>
              <a:gd name="adj" fmla="val 1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底云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" y="2926080"/>
            <a:ext cx="11686032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0116" bIns="2011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个人通用智能  ·  极简入口        长期理解你  ·  自主完成任务  ·  不必知道在用哪个产品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3419856"/>
            <a:ext cx="11686032" cy="182880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同一套底层 AI，按身份 / 工具 / 权限自动适配界面  ·  不再先选「办公」或「代码」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3621024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6CA8"/>
                </a:solidFill>
                <a:latin typeface="微软雅黑"/>
                <a:ea typeface="微软雅黑"/>
                <a:cs typeface="微软雅黑"/>
              </a:rPr>
              <a:t>程序员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开发环境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72384" y="3621024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2B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B7A8A"/>
                </a:solidFill>
                <a:latin typeface="微软雅黑"/>
                <a:ea typeface="微软雅黑"/>
                <a:cs typeface="微软雅黑"/>
              </a:rPr>
              <a:t>设计师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画布 / 设计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38928" y="3621024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3D6B8A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文档 / 需求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05472" y="3621024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4A6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A6A7C"/>
                </a:solidFill>
                <a:latin typeface="微软雅黑"/>
                <a:ea typeface="微软雅黑"/>
                <a:cs typeface="微软雅黑"/>
              </a:rPr>
              <a:t>销售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邮件 / 客户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72016" y="3621024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145">
            <a:solidFill>
              <a:srgbClr val="5C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C6E7A"/>
                </a:solidFill>
                <a:latin typeface="微软雅黑"/>
                <a:ea typeface="微软雅黑"/>
                <a:cs typeface="微软雅黑"/>
              </a:rPr>
              <a:t>普通人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简洁对话框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" y="4187952"/>
            <a:ext cx="11686032" cy="640080"/>
          </a:xfrm>
          <a:prstGeom prst="roundRect">
            <a:avLst>
              <a:gd name="adj" fmla="val 8000"/>
            </a:avLst>
          </a:prstGeom>
          <a:solidFill>
            <a:srgbClr val="0F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0175" bIns="30175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统一运行底座（Harness）  ·  底层技术 / 运行时 / 设计哲学完全相同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7F3F0"/>
                </a:solidFill>
                <a:latin typeface="微软雅黑"/>
                <a:ea typeface="微软雅黑"/>
                <a:cs typeface="微软雅黑"/>
              </a:rPr>
              <a:t>Skills  ·  记忆  ·  权限  ·  子任务     从「用户配置项」变成「系统内部件」——模型越强，用户越不用干预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6032" y="4919472"/>
            <a:ext cx="11686032" cy="950976"/>
          </a:xfrm>
          <a:prstGeom prst="roundRect">
            <a:avLst>
              <a:gd name="adj" fmla="val 8000"/>
            </a:avLst>
          </a:prstGeom>
          <a:solidFill>
            <a:srgbClr val="C46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0233" bIns="40233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  =  AI 操作数字世界的机器语言      ★ 执行内核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0D6"/>
                </a:solidFill>
                <a:latin typeface="微软雅黑"/>
                <a:ea typeface="微软雅黑"/>
                <a:cs typeface="微软雅黑"/>
              </a:rPr>
              <a:t>自然语言  →  代码 / API / 脚本 / 浏览器 / 云端任务      办公是外壳，代码才是改世界的那一层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程序员只是首批受用群体  ·  最终覆盖所有知识工作者与普通用户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4919472"/>
            <a:ext cx="91440" cy="950976"/>
          </a:xfrm>
          <a:prstGeom prst="rect">
            <a:avLst/>
          </a:prstGeom>
          <a:solidFill>
            <a:srgbClr val="F0D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56032" y="5961888"/>
            <a:ext cx="11686032" cy="475488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0175" bIns="30175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云端智能体工厂      本机只是入口  ·  真正干活的是云端并行执行（同时探索方案 / 编译 / 验证）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" y="6601968"/>
            <a:ext cx="11795760" cy="201168"/>
          </a:xfrm>
          <a:prstGeom prst="rect">
            <a:avLst/>
          </a:prstGeom>
          <a:noFill/>
        </p:spPr>
        <p:txBody>
          <a:bodyPr wrap="square" lIns="9144" rIns="9144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6878"/>
                </a:solidFill>
                <a:latin typeface="微软雅黑"/>
                <a:ea typeface="微软雅黑"/>
                <a:cs typeface="微软雅黑"/>
              </a:rPr>
              <a:t>来源：OpenAI Codex 负责人 Tibo Sottiaux × Matthew Berman 访谈（2026.08）  ·  「个人通用智能」指统一入口与长期适应的产品形态，并非宣称 AGI 已经实现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