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47548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6517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300" b="1" spc="40">
                <a:solidFill>
                  <a:srgbClr val="14213D"/>
                </a:solidFill>
                <a:latin typeface="Arial"/>
                <a:ea typeface="微软雅黑"/>
              </a:rPr>
              <a:t>Agent Team 规划：从多智能体引擎 → 智能体组织生产力平台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5A6678"/>
                </a:solidFill>
                <a:latin typeface="Arial"/>
                <a:ea typeface="微软雅黑"/>
              </a:rPr>
              <a:t>三层跃迁：能力可召唤（专家化）· 编排可复现（资产化）· 形态可自主（路由化）；底座：团队记忆复利 + 可信治理与成本可控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310896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00" b="0">
                <a:solidFill>
                  <a:srgbClr val="5A6678"/>
                </a:solidFill>
                <a:latin typeface="Arial"/>
                <a:ea typeface="微软雅黑"/>
              </a:rPr>
              <a:t>华为云码道 CodeArts · OBP 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152144"/>
            <a:ext cx="1142359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43584"/>
            <a:ext cx="5175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14213D"/>
                </a:solidFill>
                <a:latin typeface="Arial"/>
                <a:ea typeface="微软雅黑"/>
              </a:rPr>
              <a:t>规划构建架构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513332"/>
            <a:ext cx="960120" cy="292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61304" y="1243584"/>
            <a:ext cx="59463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14213D"/>
                </a:solidFill>
                <a:latin typeface="Arial"/>
                <a:ea typeface="微软雅黑"/>
              </a:rPr>
              <a:t>竞争力特性规划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61304" y="1513332"/>
            <a:ext cx="960120" cy="292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4048" y="1572768"/>
            <a:ext cx="5175504" cy="804672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" y="1641348"/>
            <a:ext cx="68580" cy="667512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3" y="1664208"/>
            <a:ext cx="43708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4213D"/>
                </a:solidFill>
                <a:latin typeface="Arial"/>
                <a:ea typeface="微软雅黑"/>
              </a:rPr>
              <a:t>① 统一入口 One Entry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77924"/>
            <a:ext cx="402336" cy="196596"/>
          </a:xfrm>
          <a:prstGeom prst="roundRect">
            <a:avLst>
              <a:gd name="adj" fmla="val 28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705356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1">
                <a:solidFill>
                  <a:srgbClr val="FFFFFF"/>
                </a:solidFill>
                <a:latin typeface="Arial"/>
                <a:ea typeface="微软雅黑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3" y="193852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5A6678"/>
                </a:solidFill>
                <a:latin typeface="Arial"/>
                <a:ea typeface="微软雅黑"/>
              </a:rPr>
              <a:t>任务描述单一入口进入，IDE / Agent Space / CLI / 流水线多端接入；发起时不再由人选择单 Agent 或 Agent Team</a:t>
            </a:r>
          </a:p>
        </p:txBody>
      </p:sp>
      <p:sp>
        <p:nvSpPr>
          <p:cNvPr id="17" name="Isosceles Triangle 16"/>
          <p:cNvSpPr/>
          <p:nvPr/>
        </p:nvSpPr>
        <p:spPr>
          <a:xfrm rot="10800000">
            <a:off x="2843784" y="2386584"/>
            <a:ext cx="256032" cy="137160"/>
          </a:xfrm>
          <a:prstGeom prst="triangle">
            <a:avLst/>
          </a:prstGeom>
          <a:solidFill>
            <a:srgbClr val="8C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2532887"/>
            <a:ext cx="5175504" cy="804672"/>
          </a:xfrm>
          <a:prstGeom prst="roundRect">
            <a:avLst>
              <a:gd name="adj" fmla="val 5500"/>
            </a:avLst>
          </a:prstGeom>
          <a:solidFill>
            <a:srgbClr val="FDF1F1"/>
          </a:solidFill>
          <a:ln w="9525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" y="2601468"/>
            <a:ext cx="68580" cy="667512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3" y="2624327"/>
            <a:ext cx="35478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C7000B"/>
                </a:solidFill>
                <a:latin typeface="Arial"/>
                <a:ea typeface="微软雅黑"/>
              </a:rPr>
              <a:t>② 决策层 · 编排形态自主路由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2638044"/>
            <a:ext cx="1225296" cy="196596"/>
          </a:xfrm>
          <a:prstGeom prst="roundRect">
            <a:avLst>
              <a:gd name="adj" fmla="val 28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665475"/>
            <a:ext cx="12252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1">
                <a:solidFill>
                  <a:srgbClr val="FFFFFF"/>
                </a:solidFill>
                <a:latin typeface="Arial"/>
                <a:ea typeface="微软雅黑"/>
              </a:rPr>
              <a:t>P0 · L3 业界空白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3" y="2898647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5A6678"/>
                </a:solidFill>
                <a:latin typeface="Arial"/>
                <a:ea typeface="微软雅黑"/>
              </a:rPr>
              <a:t>复杂度画像（任务信号 + 仓库耦合信号）→ 策略引擎决策形态·规模·模型档位·预算；升配降配断点续跑、路由可解释与 Pin、预算熔断</a:t>
            </a:r>
          </a:p>
        </p:txBody>
      </p:sp>
      <p:sp>
        <p:nvSpPr>
          <p:cNvPr id="24" name="Isosceles Triangle 23"/>
          <p:cNvSpPr/>
          <p:nvPr/>
        </p:nvSpPr>
        <p:spPr>
          <a:xfrm rot="10800000">
            <a:off x="2843784" y="3346703"/>
            <a:ext cx="256032" cy="137160"/>
          </a:xfrm>
          <a:prstGeom prst="triangle">
            <a:avLst/>
          </a:prstGeom>
          <a:solidFill>
            <a:srgbClr val="8C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048" y="3493007"/>
            <a:ext cx="5175504" cy="804672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" y="3561587"/>
            <a:ext cx="68580" cy="667512"/>
          </a:xfrm>
          <a:prstGeom prst="rect">
            <a:avLst/>
          </a:prstGeom>
          <a:solidFill>
            <a:srgbClr val="7A3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3" y="3584447"/>
            <a:ext cx="4059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4213D"/>
                </a:solidFill>
                <a:latin typeface="Arial"/>
                <a:ea typeface="微软雅黑"/>
              </a:rPr>
              <a:t>③ 编排层 · 自主编排与团队资产固化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18304" y="3598163"/>
            <a:ext cx="713232" cy="196596"/>
          </a:xfrm>
          <a:prstGeom prst="roundRect">
            <a:avLst>
              <a:gd name="adj" fmla="val 28000"/>
            </a:avLst>
          </a:prstGeom>
          <a:solidFill>
            <a:srgbClr val="7A3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304" y="3625595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1">
                <a:solidFill>
                  <a:srgbClr val="FFFFFF"/>
                </a:solidFill>
                <a:latin typeface="Arial"/>
                <a:ea typeface="微软雅黑"/>
              </a:rPr>
              <a:t>P0 · 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3" y="385876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5A6678"/>
                </a:solidFill>
                <a:latin typeface="Arial"/>
                <a:ea typeface="微软雅黑"/>
              </a:rPr>
              <a:t>Team Leader 编排 + Teammate 自主执行 + 共享任务池；Blueprint 三态与版本锁定、参数化槽位、拓扑 DSL 可视化组队、Trace→Blueprint 自动萃取</a:t>
            </a:r>
          </a:p>
        </p:txBody>
      </p:sp>
      <p:sp>
        <p:nvSpPr>
          <p:cNvPr id="31" name="Isosceles Triangle 30"/>
          <p:cNvSpPr/>
          <p:nvPr/>
        </p:nvSpPr>
        <p:spPr>
          <a:xfrm rot="10800000">
            <a:off x="2843784" y="4306823"/>
            <a:ext cx="256032" cy="137160"/>
          </a:xfrm>
          <a:prstGeom prst="triangle">
            <a:avLst/>
          </a:prstGeom>
          <a:solidFill>
            <a:srgbClr val="8C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4048" y="4453127"/>
            <a:ext cx="5175504" cy="804672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" y="4521707"/>
            <a:ext cx="68580" cy="66751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3" y="4544567"/>
            <a:ext cx="43708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4213D"/>
                </a:solidFill>
                <a:latin typeface="Arial"/>
                <a:ea typeface="微软雅黑"/>
              </a:rPr>
              <a:t>④ 能力层 · 专家与专家团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4558283"/>
            <a:ext cx="402336" cy="196596"/>
          </a:xfrm>
          <a:prstGeom prst="roundRect">
            <a:avLst>
              <a:gd name="adj" fmla="val 28000"/>
            </a:avLst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585715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1">
                <a:solidFill>
                  <a:srgbClr val="FFFFFF"/>
                </a:solidFill>
                <a:latin typeface="Arial"/>
                <a:ea typeface="微软雅黑"/>
              </a:rPr>
              <a:t>P0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3" y="481888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5A6678"/>
                </a:solidFill>
                <a:latin typeface="Arial"/>
                <a:ea typeface="微软雅黑"/>
              </a:rPr>
              <a:t>Role Profile 契约（人设·方法论·工具·DoD·权限·模型档位）；场景专家团包：存量增量开发 / 鸿蒙适配 / 测试补齐 / 安全整改；专家市场与四级作用域治理</a:t>
            </a:r>
          </a:p>
        </p:txBody>
      </p:sp>
      <p:sp>
        <p:nvSpPr>
          <p:cNvPr id="38" name="Isosceles Triangle 37"/>
          <p:cNvSpPr/>
          <p:nvPr/>
        </p:nvSpPr>
        <p:spPr>
          <a:xfrm rot="10800000">
            <a:off x="2843784" y="5266943"/>
            <a:ext cx="256032" cy="137160"/>
          </a:xfrm>
          <a:prstGeom prst="triangle">
            <a:avLst/>
          </a:prstGeom>
          <a:solidFill>
            <a:srgbClr val="8C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4048" y="5413247"/>
            <a:ext cx="5175504" cy="804672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" y="5481827"/>
            <a:ext cx="68580" cy="667512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3" y="5504687"/>
            <a:ext cx="4059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4213D"/>
                </a:solidFill>
                <a:latin typeface="Arial"/>
                <a:ea typeface="微软雅黑"/>
              </a:rPr>
              <a:t>⑤ 底座 · Agent Team Ops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18304" y="5518403"/>
            <a:ext cx="713232" cy="196596"/>
          </a:xfrm>
          <a:prstGeom prst="roundRect">
            <a:avLst>
              <a:gd name="adj" fmla="val 28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5545835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1">
                <a:solidFill>
                  <a:srgbClr val="FFFFFF"/>
                </a:solidFill>
                <a:latin typeface="Arial"/>
                <a:ea typeface="微软雅黑"/>
              </a:rPr>
              <a:t>P0 · 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3" y="5779007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>
                <a:solidFill>
                  <a:srgbClr val="5A6678"/>
                </a:solidFill>
                <a:latin typeface="Arial"/>
                <a:ea typeface="微软雅黑"/>
              </a:rPr>
              <a:t>团队记忆与轨迹复盘 ｜ 单线程写入 + worktree 沙箱 ｜ 研发门禁 CodeCheck·CloudTest·流水线 ｜ 审计·配额·熔断 ｜ Codebase 与鸿蒙增训模型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5861304" y="1572768"/>
          <a:ext cx="5946343" cy="46451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44752"/>
                <a:gridCol w="4501591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关键竞争力</a:t>
                      </a:r>
                    </a:p>
                  </a:txBody>
                  <a:tcPr marL="68580" marR="68580" marT="41148" marB="41148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竞争力描述</a:t>
                      </a:r>
                    </a:p>
                  </a:txBody>
                  <a:tcPr marL="68580" marR="68580" marT="41148" marB="41148" anchor="ctr">
                    <a:solidFill>
                      <a:srgbClr val="14213D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4213D"/>
                          </a:solidFill>
                          <a:latin typeface="Arial"/>
                          <a:ea typeface="微软雅黑"/>
                        </a:rPr>
                        <a:t>专家化封装
零门槛召唤</a:t>
                      </a:r>
                    </a:p>
                  </a:txBody>
                  <a:tcPr marL="68580" marR="6858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5A6678"/>
                          </a:solidFill>
                          <a:latin typeface="Arial"/>
                          <a:ea typeface="微软雅黑"/>
                        </a:rPr>
                        <a:t>Role Profile 契约化 + 场景专家团预置包，以“专家 / 专家团”形态交付多智能体能力；对标 WorkBuddy 三层心智，叠加码道 Skills 与 Codebase</a:t>
                      </a:r>
                    </a:p>
                  </a:txBody>
                  <a:tcPr marL="68580" marR="68580" marT="41148" marB="41148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4213D"/>
                          </a:solidFill>
                          <a:latin typeface="Arial"/>
                          <a:ea typeface="微软雅黑"/>
                        </a:rPr>
                        <a:t>团队资产固化
与版本治理</a:t>
                      </a:r>
                    </a:p>
                  </a:txBody>
                  <a:tcPr marL="68580" marR="68580" marT="41148" marB="4114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5A6678"/>
                          </a:solidFill>
                          <a:latin typeface="Arial"/>
                          <a:ea typeface="微软雅黑"/>
                        </a:rPr>
                        <a:t>Blueprint 三态（Draft→Blueprint→Certified）+ 引用版本锁定 + 参数化槽位，破解“每次拆解都不一样”，上线拆解一致性指标；对标 Qoder 与 Copilot 的版本锁定实践</a:t>
                      </a:r>
                    </a:p>
                  </a:txBody>
                  <a:tcPr marL="68580" marR="68580" marT="41148" marB="41148" anchor="ctr">
                    <a:solidFill>
                      <a:srgbClr val="F6F8FB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4213D"/>
                          </a:solidFill>
                          <a:latin typeface="Arial"/>
                          <a:ea typeface="微软雅黑"/>
                        </a:rPr>
                        <a:t>自主编排
与自主组队</a:t>
                      </a:r>
                    </a:p>
                  </a:txBody>
                  <a:tcPr marL="68580" marR="6858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5A6678"/>
                          </a:solidFill>
                          <a:latin typeface="Arial"/>
                          <a:ea typeface="微软雅黑"/>
                        </a:rPr>
                        <a:t>Leader 自动识别任务、动态拆解并按需建组；拓扑 DSL 与可视化编辑支持用户自建团队并一键固化；Trace→Blueprint 自动萃取，把成功轨迹沉淀为组织级资产</a:t>
                      </a:r>
                    </a:p>
                  </a:txBody>
                  <a:tcPr marL="68580" marR="68580" marT="41148" marB="41148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C7000B"/>
                          </a:solidFill>
                          <a:latin typeface="Arial"/>
                          <a:ea typeface="微软雅黑"/>
                        </a:rPr>
                        <a:t>编排形态自主路由
（战略高地）</a:t>
                      </a:r>
                    </a:p>
                  </a:txBody>
                  <a:tcPr marL="68580" marR="68580" marT="41148" marB="41148" anchor="ctr">
                    <a:solidFill>
                      <a:srgbClr val="FD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14213D"/>
                          </a:solidFill>
                          <a:latin typeface="Arial"/>
                          <a:ea typeface="微软雅黑"/>
                        </a:rPr>
                        <a:t>统一入口下由 Harness 判定单体 / 单体+评审 / 小团队 / 全量团队；业界仅到子 Agent 自动委派（L2），形态级路由（L3）尚无产品化闭环，学术已验证降本至多 52%</a:t>
                      </a:r>
                    </a:p>
                  </a:txBody>
                  <a:tcPr marL="68580" marR="68580" marT="41148" marB="41148" anchor="ctr">
                    <a:solidFill>
                      <a:srgbClr val="FDF1F1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4213D"/>
                          </a:solidFill>
                          <a:latin typeface="Arial"/>
                          <a:ea typeface="微软雅黑"/>
                        </a:rPr>
                        <a:t>升配降配
与成本护栏</a:t>
                      </a:r>
                    </a:p>
                  </a:txBody>
                  <a:tcPr marL="68580" marR="6858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5A6678"/>
                          </a:solidFill>
                          <a:latin typeface="Arial"/>
                          <a:ea typeface="微软雅黑"/>
                        </a:rPr>
                        <a:t>默认单体起步，触发条件下 checkpoint 移交团队续跑而非重启，收敛后自动降配；任务与租户级预算、递归深度与并发上限、异常熔断，支撑大客户成本可承诺</a:t>
                      </a:r>
                    </a:p>
                  </a:txBody>
                  <a:tcPr marL="68580" marR="68580" marT="41148" marB="41148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4213D"/>
                          </a:solidFill>
                          <a:latin typeface="Arial"/>
                          <a:ea typeface="微软雅黑"/>
                        </a:rPr>
                        <a:t>团队记忆
与经验复利</a:t>
                      </a:r>
                    </a:p>
                  </a:txBody>
                  <a:tcPr marL="68580" marR="68580" marT="41148" marB="4114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5A6678"/>
                          </a:solidFill>
                          <a:latin typeface="Arial"/>
                          <a:ea typeface="微软雅黑"/>
                        </a:rPr>
                        <a:t>Teammate 持续化上下文 + 执行轨迹复盘 + 失败模式库反哺路由与拆解；Codebase 与企业知识按角色定向注入，形成“越用越强”，区别于竞品一次性构造的团队</a:t>
                      </a:r>
                    </a:p>
                  </a:txBody>
                  <a:tcPr marL="68580" marR="68580" marT="41148" marB="41148" anchor="ctr">
                    <a:solidFill>
                      <a:srgbClr val="F6F8FB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4213D"/>
                          </a:solidFill>
                          <a:latin typeface="Arial"/>
                          <a:ea typeface="微软雅黑"/>
                        </a:rPr>
                        <a:t>企业级可信
与门禁闭环</a:t>
                      </a:r>
                    </a:p>
                  </a:txBody>
                  <a:tcPr marL="68580" marR="6858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5A6678"/>
                          </a:solidFill>
                          <a:latin typeface="Arial"/>
                          <a:ea typeface="微软雅黑"/>
                        </a:rPr>
                        <a:t>单线程写入 + worktree 沙箱隔离；产出必过 CodeCheck / CloudTest / 流水线门禁；最小权限、全链路审计、四级作用域治理与私有化合规——纯 IDE 类竞品的结构性短板</a:t>
                      </a:r>
                    </a:p>
                  </a:txBody>
                  <a:tcPr marL="68580" marR="68580" marT="41148" marB="41148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sz="950" b="1">
                          <a:solidFill>
                            <a:srgbClr val="14213D"/>
                          </a:solidFill>
                          <a:latin typeface="Arial"/>
                          <a:ea typeface="微软雅黑"/>
                        </a:rPr>
                        <a:t>场景化
差异化资产</a:t>
                      </a:r>
                    </a:p>
                  </a:txBody>
                  <a:tcPr marL="68580" marR="68580" marT="41148" marB="4114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850" b="0">
                          <a:solidFill>
                            <a:srgbClr val="5A6678"/>
                          </a:solidFill>
                          <a:latin typeface="Arial"/>
                          <a:ea typeface="微软雅黑"/>
                        </a:rPr>
                        <a:t>鸿蒙适配迁移专家团 + 存量代码 Codebase 深度理解 + 华为研发体系 Skills 沉淀，构筑竞品不可迁移的场景护城河</a:t>
                      </a:r>
                    </a:p>
                  </a:txBody>
                  <a:tcPr marL="68580" marR="68580" marT="41148" marB="4114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384048" y="6345936"/>
            <a:ext cx="1142359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428232"/>
            <a:ext cx="11423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A6678"/>
                </a:solidFill>
                <a:latin typeface="Arial"/>
                <a:ea typeface="微软雅黑"/>
              </a:rPr>
              <a:t>度量口径：拆解一致性 · 蓝图复用率 · 路由准确率 · Token/任务 · 人工干预次数 · 一次通过率 · 并行加速比</a:t>
            </a:r>
          </a:p>
          <a:p>
            <a:pPr>
              <a:lnSpc>
                <a:spcPct val="125000"/>
              </a:lnSpc>
            </a:pPr>
            <a:r>
              <a:rPr sz="850" b="0">
                <a:solidFill>
                  <a:srgbClr val="5A6678"/>
                </a:solidFill>
                <a:latin typeface="Arial"/>
                <a:ea typeface="微软雅黑"/>
              </a:rPr>
              <a:t>数据锚点：多智能体 ≈ 15× Chat Token（Anthropic）· 多智能体轨迹失败率 41%~87%（NeurIPS'25）· 编排形态路由降本至多 52%（MasRouter, ACL'25）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