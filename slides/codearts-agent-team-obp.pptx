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475488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65176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300" b="1" spc="40">
                <a:solidFill>
                  <a:srgbClr val="14213D"/>
                </a:solidFill>
                <a:latin typeface="Arial"/>
                <a:ea typeface="微软雅黑"/>
              </a:rPr>
              <a:t>Agent Team 规划：从多智能体引擎 → 智能体组织生产力平台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0">
                <a:solidFill>
                  <a:srgbClr val="5A6678"/>
                </a:solidFill>
                <a:latin typeface="Arial"/>
                <a:ea typeface="微软雅黑"/>
              </a:rPr>
              <a:t>三层跃迁：能力可召唤（专家化）· 编排可复现（资产化）· 形态可自主（路由化）；底座：团队记忆复利 + 可信治理与成本可控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1567" y="31089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</a:pPr>
            <a:r>
              <a:rPr sz="1000" b="0">
                <a:solidFill>
                  <a:srgbClr val="5A6678"/>
                </a:solidFill>
                <a:latin typeface="Arial"/>
                <a:ea typeface="微软雅黑"/>
              </a:rPr>
              <a:t>华为云码道 CodeArts · OBP 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152144"/>
            <a:ext cx="1142359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243584"/>
            <a:ext cx="5175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14213D"/>
                </a:solidFill>
                <a:latin typeface="Arial"/>
                <a:ea typeface="微软雅黑"/>
              </a:rPr>
              <a:t>规划构建架构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1513332"/>
            <a:ext cx="960120" cy="2926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61304" y="1243584"/>
            <a:ext cx="59463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14213D"/>
                </a:solidFill>
                <a:latin typeface="Arial"/>
                <a:ea typeface="微软雅黑"/>
              </a:rPr>
              <a:t>竞争力特性规划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61304" y="1513332"/>
            <a:ext cx="960120" cy="29260"/>
          </a:xfrm>
          <a:prstGeom prst="rect">
            <a:avLst/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4048" y="2121408"/>
            <a:ext cx="932688" cy="2798064"/>
          </a:xfrm>
          <a:prstGeom prst="roundRect">
            <a:avLst>
              <a:gd name="adj" fmla="val 6000"/>
            </a:avLst>
          </a:prstGeom>
          <a:solidFill>
            <a:srgbClr val="EDF7F6"/>
          </a:solidFill>
          <a:ln w="9525">
            <a:solidFill>
              <a:srgbClr val="0F9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2203703"/>
            <a:ext cx="8412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1">
                <a:solidFill>
                  <a:srgbClr val="0F9B8E"/>
                </a:solidFill>
                <a:latin typeface="Arial"/>
                <a:ea typeface="微软雅黑"/>
              </a:rPr>
              <a:t>专家 / 专家团
资产库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" y="2560320"/>
            <a:ext cx="80467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14213D"/>
                </a:solidFill>
                <a:latin typeface="Arial"/>
                <a:ea typeface="微软雅黑"/>
              </a:rPr>
              <a:t>Role Profile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" y="3044952"/>
            <a:ext cx="80467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14213D"/>
                </a:solidFill>
                <a:latin typeface="Arial"/>
                <a:ea typeface="微软雅黑"/>
              </a:rPr>
              <a:t>Blueprint 三态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529584"/>
            <a:ext cx="80467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14213D"/>
                </a:solidFill>
                <a:latin typeface="Arial"/>
                <a:ea typeface="微软雅黑"/>
              </a:rPr>
              <a:t>场景专家团包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" y="4014215"/>
            <a:ext cx="80467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14213D"/>
                </a:solidFill>
                <a:latin typeface="Arial"/>
                <a:ea typeface="微软雅黑"/>
              </a:rPr>
              <a:t>市场·分级治理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" y="4498848"/>
            <a:ext cx="80467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14213D"/>
                </a:solidFill>
                <a:latin typeface="Arial"/>
                <a:ea typeface="微软雅黑"/>
              </a:rPr>
              <a:t>Codebase 注入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26864" y="2121408"/>
            <a:ext cx="932688" cy="27980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2584" y="2203703"/>
            <a:ext cx="8412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1">
                <a:solidFill>
                  <a:srgbClr val="4A5568"/>
                </a:solidFill>
                <a:latin typeface="Arial"/>
                <a:ea typeface="微软雅黑"/>
              </a:rPr>
              <a:t>Agent Team Ops
底座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90872" y="2560320"/>
            <a:ext cx="80467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14213D"/>
                </a:solidFill>
                <a:latin typeface="Arial"/>
                <a:ea typeface="微软雅黑"/>
              </a:rPr>
              <a:t>记忆·轨迹复盘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90872" y="3044952"/>
            <a:ext cx="80467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14213D"/>
                </a:solidFill>
                <a:latin typeface="Arial"/>
                <a:ea typeface="微软雅黑"/>
              </a:rPr>
              <a:t>沙箱·单线程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3529584"/>
            <a:ext cx="80467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14213D"/>
                </a:solidFill>
                <a:latin typeface="Arial"/>
                <a:ea typeface="微软雅黑"/>
              </a:rPr>
              <a:t>预算·配额·熔断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90872" y="4014215"/>
            <a:ext cx="80467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14213D"/>
                </a:solidFill>
                <a:latin typeface="Arial"/>
                <a:ea typeface="微软雅黑"/>
              </a:rPr>
              <a:t>审计·权限治理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90872" y="4498848"/>
            <a:ext cx="804672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14213D"/>
                </a:solidFill>
                <a:latin typeface="Arial"/>
                <a:ea typeface="微软雅黑"/>
              </a:rPr>
              <a:t>可观测大盘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01367" y="1572768"/>
            <a:ext cx="2340864" cy="384048"/>
          </a:xfrm>
          <a:prstGeom prst="roundRect">
            <a:avLst>
              <a:gd name="adj" fmla="val 36000"/>
            </a:avLst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Arial"/>
                <a:ea typeface="微软雅黑"/>
              </a:rPr>
              <a:t>① 统一入口 One Entry</a:t>
            </a:r>
          </a:p>
          <a:p>
            <a:pPr algn="ctr">
              <a:lnSpc>
                <a:spcPct val="105000"/>
              </a:lnSpc>
            </a:pPr>
            <a:r>
              <a:rPr sz="700" b="0">
                <a:solidFill>
                  <a:srgbClr val="FFFFFF"/>
                </a:solidFill>
                <a:latin typeface="Arial"/>
                <a:ea typeface="微软雅黑"/>
              </a:rPr>
              <a:t>自然语言任务 / 专家召唤 · IDE · CLI · 流水线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2903220" y="1975104"/>
            <a:ext cx="137160" cy="128016"/>
          </a:xfrm>
          <a:prstGeom prst="downArrow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481328" y="2121408"/>
            <a:ext cx="2980944" cy="402336"/>
          </a:xfrm>
          <a:prstGeom prst="roundRect">
            <a:avLst>
              <a:gd name="adj" fmla="val 14000"/>
            </a:avLst>
          </a:prstGeom>
          <a:solidFill>
            <a:srgbClr val="FDF1F1"/>
          </a:solidFill>
          <a:ln w="9525">
            <a:solidFill>
              <a:srgbClr val="C700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C7000B"/>
                </a:solidFill>
                <a:latin typeface="Arial"/>
                <a:ea typeface="微软雅黑"/>
              </a:rPr>
              <a:t>② 任务复杂度画像</a:t>
            </a:r>
          </a:p>
          <a:p>
            <a:pPr algn="ctr">
              <a:lnSpc>
                <a:spcPct val="105000"/>
              </a:lnSpc>
            </a:pPr>
            <a:r>
              <a:rPr sz="700" b="0">
                <a:solidFill>
                  <a:srgbClr val="5A6678"/>
                </a:solidFill>
                <a:latin typeface="Arial"/>
                <a:ea typeface="微软雅黑"/>
              </a:rPr>
              <a:t>任务信号 · 仓库耦合信号 · 可并行度 · 历史表现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2903220" y="2542032"/>
            <a:ext cx="137160" cy="128016"/>
          </a:xfrm>
          <a:prstGeom prst="downArrow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1481328" y="2688336"/>
            <a:ext cx="2980944" cy="457200"/>
          </a:xfrm>
          <a:prstGeom prst="hexagon">
            <a:avLst>
              <a:gd name="adj" fmla="val 10000"/>
              <a:gd name="vf" fmla="val 115470"/>
            </a:avLst>
          </a:prstGeom>
          <a:solidFill>
            <a:srgbClr val="C700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③ 编排策略引擎  ·  形态自主路由</a:t>
            </a:r>
          </a:p>
          <a:p>
            <a:pPr algn="ctr">
              <a:lnSpc>
                <a:spcPct val="105000"/>
              </a:lnSpc>
            </a:pPr>
            <a:r>
              <a:rPr sz="700" b="0">
                <a:solidFill>
                  <a:srgbClr val="FFFFFF"/>
                </a:solidFill>
                <a:latin typeface="Arial"/>
                <a:ea typeface="微软雅黑"/>
              </a:rPr>
              <a:t>形态 · 规模 · 模型档位 · 预算    ｜    L3 业界空白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71800" y="3145536"/>
            <a:ext cx="11430" cy="54864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947672" y="3200400"/>
            <a:ext cx="2048256" cy="11430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47672" y="3200400"/>
            <a:ext cx="11430" cy="54864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1892807" y="3200400"/>
            <a:ext cx="109728" cy="91440"/>
          </a:xfrm>
          <a:prstGeom prst="downArrow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481328" y="3291840"/>
            <a:ext cx="932688" cy="34747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800" b="1">
                <a:solidFill>
                  <a:srgbClr val="14213D"/>
                </a:solidFill>
                <a:latin typeface="Arial"/>
                <a:ea typeface="微软雅黑"/>
              </a:rPr>
              <a:t>单 Agent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3200400"/>
            <a:ext cx="11430" cy="54864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2916936" y="3200400"/>
            <a:ext cx="109728" cy="91440"/>
          </a:xfrm>
          <a:prstGeom prst="downArrow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05456" y="3291840"/>
            <a:ext cx="932688" cy="34747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800" b="1">
                <a:solidFill>
                  <a:srgbClr val="14213D"/>
                </a:solidFill>
                <a:latin typeface="Arial"/>
                <a:ea typeface="微软雅黑"/>
              </a:rPr>
              <a:t>单 Agent + 评审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95928" y="3200400"/>
            <a:ext cx="11430" cy="54864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Down Arrow 38"/>
          <p:cNvSpPr/>
          <p:nvPr/>
        </p:nvSpPr>
        <p:spPr>
          <a:xfrm>
            <a:off x="3941064" y="3200400"/>
            <a:ext cx="109728" cy="91440"/>
          </a:xfrm>
          <a:prstGeom prst="downArrow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29584" y="3291840"/>
            <a:ext cx="932688" cy="347472"/>
          </a:xfrm>
          <a:prstGeom prst="roundRect">
            <a:avLst>
              <a:gd name="adj" fmla="val 18000"/>
            </a:avLst>
          </a:prstGeom>
          <a:solidFill>
            <a:srgbClr val="F4EFFB"/>
          </a:solidFill>
          <a:ln w="9525">
            <a:solidFill>
              <a:srgbClr val="7A3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800" b="1">
                <a:solidFill>
                  <a:srgbClr val="7A3EBF"/>
                </a:solidFill>
                <a:latin typeface="Arial"/>
                <a:ea typeface="微软雅黑"/>
              </a:rPr>
              <a:t>Agent Team</a:t>
            </a:r>
          </a:p>
        </p:txBody>
      </p:sp>
      <p:sp>
        <p:nvSpPr>
          <p:cNvPr id="41" name="Left-Right Arrow 40"/>
          <p:cNvSpPr/>
          <p:nvPr/>
        </p:nvSpPr>
        <p:spPr>
          <a:xfrm>
            <a:off x="1947672" y="3694176"/>
            <a:ext cx="2048256" cy="146304"/>
          </a:xfrm>
          <a:prstGeom prst="leftRightArrow">
            <a:avLst/>
          </a:prstGeom>
          <a:solidFill>
            <a:srgbClr val="F4EFFB"/>
          </a:solidFill>
          <a:ln w="9525">
            <a:solidFill>
              <a:srgbClr val="7A3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81328" y="3858768"/>
            <a:ext cx="29809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0">
                <a:solidFill>
                  <a:srgbClr val="7A3EBF"/>
                </a:solidFill>
                <a:latin typeface="Arial"/>
                <a:ea typeface="微软雅黑"/>
              </a:rPr>
              <a:t>升配 / 降配 · checkpoint 续跑（不重启）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81328" y="4041648"/>
            <a:ext cx="2980944" cy="914400"/>
          </a:xfrm>
          <a:prstGeom prst="roundRect">
            <a:avLst>
              <a:gd name="adj" fmla="val 8000"/>
            </a:avLst>
          </a:prstGeom>
          <a:solidFill>
            <a:srgbClr val="F4EFFB"/>
          </a:solidFill>
          <a:ln w="9525">
            <a:solidFill>
              <a:srgbClr val="7A3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72768" y="4087368"/>
            <a:ext cx="2798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7A3EBF"/>
                </a:solidFill>
                <a:latin typeface="Arial"/>
                <a:ea typeface="微软雅黑"/>
              </a:rPr>
              <a:t>④ Agent Team 执行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68880" y="4261104"/>
            <a:ext cx="1005840" cy="201168"/>
          </a:xfrm>
          <a:prstGeom prst="roundRect">
            <a:avLst>
              <a:gd name="adj" fmla="val 30000"/>
            </a:avLst>
          </a:prstGeom>
          <a:solidFill>
            <a:srgbClr val="7A3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50" b="1">
                <a:solidFill>
                  <a:srgbClr val="FFFFFF"/>
                </a:solidFill>
                <a:latin typeface="Arial"/>
                <a:ea typeface="微软雅黑"/>
              </a:rPr>
              <a:t>Team Leader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71800" y="4462272"/>
            <a:ext cx="11430" cy="36576"/>
          </a:xfrm>
          <a:prstGeom prst="rect">
            <a:avLst/>
          </a:prstGeom>
          <a:solidFill>
            <a:srgbClr val="7A3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002536" y="4498848"/>
            <a:ext cx="1938528" cy="11430"/>
          </a:xfrm>
          <a:prstGeom prst="rect">
            <a:avLst/>
          </a:prstGeom>
          <a:solidFill>
            <a:srgbClr val="7A3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002536" y="4498848"/>
            <a:ext cx="11430" cy="36576"/>
          </a:xfrm>
          <a:prstGeom prst="rect">
            <a:avLst/>
          </a:prstGeom>
          <a:solidFill>
            <a:srgbClr val="7A3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591056" y="4535424"/>
            <a:ext cx="822960" cy="219456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7A3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14213D"/>
                </a:solidFill>
                <a:latin typeface="Arial"/>
                <a:ea typeface="微软雅黑"/>
              </a:rPr>
              <a:t>Teammate·分析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71800" y="4498848"/>
            <a:ext cx="11430" cy="36576"/>
          </a:xfrm>
          <a:prstGeom prst="rect">
            <a:avLst/>
          </a:prstGeom>
          <a:solidFill>
            <a:srgbClr val="7A3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560320" y="4535424"/>
            <a:ext cx="822960" cy="219456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7A3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14213D"/>
                </a:solidFill>
                <a:latin typeface="Arial"/>
                <a:ea typeface="微软雅黑"/>
              </a:rPr>
              <a:t>Teammate·开发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41064" y="4498848"/>
            <a:ext cx="11430" cy="36576"/>
          </a:xfrm>
          <a:prstGeom prst="rect">
            <a:avLst/>
          </a:prstGeom>
          <a:solidFill>
            <a:srgbClr val="7A3E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529584" y="4535424"/>
            <a:ext cx="822960" cy="219456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7A3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14213D"/>
                </a:solidFill>
                <a:latin typeface="Arial"/>
                <a:ea typeface="微软雅黑"/>
              </a:rPr>
              <a:t>Teammate·测试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72768" y="4791456"/>
            <a:ext cx="27980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650" b="0">
                <a:solidFill>
                  <a:srgbClr val="5A6678"/>
                </a:solidFill>
                <a:latin typeface="Arial"/>
                <a:ea typeface="微软雅黑"/>
              </a:rPr>
              <a:t>共享任务池 · 双向通信 · 写入单线程串行</a:t>
            </a:r>
          </a:p>
        </p:txBody>
      </p:sp>
      <p:sp>
        <p:nvSpPr>
          <p:cNvPr id="55" name="Down Arrow 54"/>
          <p:cNvSpPr/>
          <p:nvPr/>
        </p:nvSpPr>
        <p:spPr>
          <a:xfrm>
            <a:off x="2903220" y="4974336"/>
            <a:ext cx="137160" cy="128016"/>
          </a:xfrm>
          <a:prstGeom prst="downArrow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481328" y="5102352"/>
            <a:ext cx="896112" cy="292608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50" b="1">
                <a:solidFill>
                  <a:srgbClr val="4A5568"/>
                </a:solidFill>
                <a:latin typeface="Arial"/>
                <a:ea typeface="微软雅黑"/>
              </a:rPr>
              <a:t>CodeCheck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2395728" y="5198364"/>
            <a:ext cx="109728" cy="100584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23744" y="5102352"/>
            <a:ext cx="896112" cy="292608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50" b="1">
                <a:solidFill>
                  <a:srgbClr val="4A5568"/>
                </a:solidFill>
                <a:latin typeface="Arial"/>
                <a:ea typeface="微软雅黑"/>
              </a:rPr>
              <a:t>CloudTest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3438144" y="5198364"/>
            <a:ext cx="109728" cy="100584"/>
          </a:xfrm>
          <a:prstGeom prst="rightArrow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566160" y="5102352"/>
            <a:ext cx="896112" cy="292608"/>
          </a:xfrm>
          <a:prstGeom prst="roundRect">
            <a:avLst>
              <a:gd name="adj" fmla="val 20000"/>
            </a:avLst>
          </a:prstGeom>
          <a:solidFill>
            <a:srgbClr val="F2F4F7"/>
          </a:solidFill>
          <a:ln w="9525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750" b="1">
                <a:solidFill>
                  <a:srgbClr val="4A5568"/>
                </a:solidFill>
                <a:latin typeface="Arial"/>
                <a:ea typeface="微软雅黑"/>
              </a:rPr>
              <a:t>流水线门禁</a:t>
            </a:r>
          </a:p>
        </p:txBody>
      </p:sp>
      <p:sp>
        <p:nvSpPr>
          <p:cNvPr id="61" name="Down Arrow 60"/>
          <p:cNvSpPr/>
          <p:nvPr/>
        </p:nvSpPr>
        <p:spPr>
          <a:xfrm>
            <a:off x="2903220" y="5413248"/>
            <a:ext cx="137160" cy="128016"/>
          </a:xfrm>
          <a:prstGeom prst="downArrow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755648" y="5559552"/>
            <a:ext cx="2432304" cy="256032"/>
          </a:xfrm>
          <a:prstGeom prst="roundRect">
            <a:avLst>
              <a:gd name="adj" fmla="val 36000"/>
            </a:avLst>
          </a:prstGeom>
          <a:solidFill>
            <a:srgbClr val="FFFFFF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>
              <a:lnSpc>
                <a:spcPct val="105000"/>
              </a:lnSpc>
            </a:pPr>
            <a:r>
              <a:rPr sz="850" b="1">
                <a:solidFill>
                  <a:srgbClr val="14213D"/>
                </a:solidFill>
                <a:latin typeface="Arial"/>
                <a:ea typeface="微软雅黑"/>
              </a:rPr>
              <a:t>⑤ 交付件 · PR · 任务报告 · 度量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316736" y="2916936"/>
            <a:ext cx="146303" cy="0"/>
          </a:xfrm>
          <a:prstGeom prst="line">
            <a:avLst/>
          </a:prstGeom>
          <a:ln w="13970">
            <a:solidFill>
              <a:srgbClr val="0F9B8E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4480559" y="2916936"/>
            <a:ext cx="146305" cy="0"/>
          </a:xfrm>
          <a:prstGeom prst="line">
            <a:avLst/>
          </a:prstGeom>
          <a:ln w="13970">
            <a:solidFill>
              <a:srgbClr val="4A5568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316736" y="4480560"/>
            <a:ext cx="146303" cy="0"/>
          </a:xfrm>
          <a:prstGeom prst="line">
            <a:avLst/>
          </a:prstGeom>
          <a:ln w="13970">
            <a:solidFill>
              <a:srgbClr val="0F9B8E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4480559" y="4480560"/>
            <a:ext cx="146305" cy="0"/>
          </a:xfrm>
          <a:prstGeom prst="line">
            <a:avLst/>
          </a:prstGeom>
          <a:ln w="13970">
            <a:solidFill>
              <a:srgbClr val="4A5568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850392" y="5687568"/>
            <a:ext cx="905256" cy="0"/>
          </a:xfrm>
          <a:prstGeom prst="line">
            <a:avLst/>
          </a:prstGeom>
          <a:ln w="13970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850392" y="4956048"/>
            <a:ext cx="0" cy="731520"/>
          </a:xfrm>
          <a:prstGeom prst="line">
            <a:avLst/>
          </a:prstGeom>
          <a:ln w="13970">
            <a:solidFill>
              <a:srgbClr val="0F9B8E"/>
            </a:solidFill>
            <a:prstDash val="sys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84048" y="5852160"/>
            <a:ext cx="51755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0">
                <a:solidFill>
                  <a:srgbClr val="0F9B8E"/>
                </a:solidFill>
                <a:latin typeface="Arial"/>
                <a:ea typeface="微软雅黑"/>
              </a:rPr>
              <a:t>轨迹回流：Trace → Blueprint 自动萃取 · 失败模式库 · 路由策略学习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4048" y="6035040"/>
            <a:ext cx="51755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700" b="0">
                <a:solidFill>
                  <a:srgbClr val="5A6678"/>
                </a:solidFill>
                <a:latin typeface="Arial"/>
                <a:ea typeface="微软雅黑"/>
              </a:rPr>
              <a:t>实线＝任务执行主链路（①~⑤ P0 首版）　虚线＝资产 / 底座注入与反馈回环（P0 · P1 分批）</a:t>
            </a:r>
          </a:p>
        </p:txBody>
      </p:sp>
      <p:graphicFrame>
        <p:nvGraphicFramePr>
          <p:cNvPr id="71" name="Table 70"/>
          <p:cNvGraphicFramePr>
            <a:graphicFrameLocks noGrp="1"/>
          </p:cNvGraphicFramePr>
          <p:nvPr/>
        </p:nvGraphicFramePr>
        <p:xfrm>
          <a:off x="5861304" y="1572768"/>
          <a:ext cx="5946343" cy="46451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4752"/>
                <a:gridCol w="4501591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关键竞争力</a:t>
                      </a:r>
                    </a:p>
                  </a:txBody>
                  <a:tcPr marL="68580" marR="68580" marT="41148" marB="41148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竞争力描述</a:t>
                      </a:r>
                    </a:p>
                  </a:txBody>
                  <a:tcPr marL="68580" marR="68580" marT="41148" marB="41148" anchor="ctr">
                    <a:solidFill>
                      <a:srgbClr val="14213D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950" b="1">
                          <a:solidFill>
                            <a:srgbClr val="14213D"/>
                          </a:solidFill>
                          <a:latin typeface="Arial"/>
                          <a:ea typeface="微软雅黑"/>
                        </a:rPr>
                        <a:t>专家化封装
零门槛召唤</a:t>
                      </a:r>
                    </a:p>
                  </a:txBody>
                  <a:tcPr marL="68580" marR="6858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850" b="0">
                          <a:solidFill>
                            <a:srgbClr val="5A6678"/>
                          </a:solidFill>
                          <a:latin typeface="Arial"/>
                          <a:ea typeface="微软雅黑"/>
                        </a:rPr>
                        <a:t>Role Profile 契约化 + 场景专家团预置包，以“专家 / 专家团”形态交付多智能体能力；对标 WorkBuddy 三层心智，叠加码道 Skills 与 Codebase</a:t>
                      </a:r>
                    </a:p>
                  </a:txBody>
                  <a:tcPr marL="68580" marR="68580" marT="41148" marB="41148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950" b="1">
                          <a:solidFill>
                            <a:srgbClr val="14213D"/>
                          </a:solidFill>
                          <a:latin typeface="Arial"/>
                          <a:ea typeface="微软雅黑"/>
                        </a:rPr>
                        <a:t>团队资产固化
与版本治理</a:t>
                      </a:r>
                    </a:p>
                  </a:txBody>
                  <a:tcPr marL="68580" marR="68580" marT="41148" marB="41148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850" b="0">
                          <a:solidFill>
                            <a:srgbClr val="5A6678"/>
                          </a:solidFill>
                          <a:latin typeface="Arial"/>
                          <a:ea typeface="微软雅黑"/>
                        </a:rPr>
                        <a:t>Blueprint 三态（Draft→Blueprint→Certified）+ 引用版本锁定 + 参数化槽位，破解“每次拆解都不一样”，上线拆解一致性指标；对标 Qoder 与 Copilot 的版本锁定实践</a:t>
                      </a:r>
                    </a:p>
                  </a:txBody>
                  <a:tcPr marL="68580" marR="68580" marT="41148" marB="41148" anchor="ctr">
                    <a:solidFill>
                      <a:srgbClr val="F6F8FB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950" b="1">
                          <a:solidFill>
                            <a:srgbClr val="14213D"/>
                          </a:solidFill>
                          <a:latin typeface="Arial"/>
                          <a:ea typeface="微软雅黑"/>
                        </a:rPr>
                        <a:t>自主编排
与自主组队</a:t>
                      </a:r>
                    </a:p>
                  </a:txBody>
                  <a:tcPr marL="68580" marR="6858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850" b="0">
                          <a:solidFill>
                            <a:srgbClr val="5A6678"/>
                          </a:solidFill>
                          <a:latin typeface="Arial"/>
                          <a:ea typeface="微软雅黑"/>
                        </a:rPr>
                        <a:t>Leader 自动识别任务、动态拆解并按需建组；拓扑 DSL 与可视化编辑支持用户自建团队并一键固化；Trace→Blueprint 自动萃取，把成功轨迹沉淀为组织级资产</a:t>
                      </a:r>
                    </a:p>
                  </a:txBody>
                  <a:tcPr marL="68580" marR="68580" marT="41148" marB="41148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950" b="1">
                          <a:solidFill>
                            <a:srgbClr val="C7000B"/>
                          </a:solidFill>
                          <a:latin typeface="Arial"/>
                          <a:ea typeface="微软雅黑"/>
                        </a:rPr>
                        <a:t>编排形态自主路由
（战略高地）</a:t>
                      </a:r>
                    </a:p>
                  </a:txBody>
                  <a:tcPr marL="68580" marR="68580" marT="41148" marB="41148" anchor="ctr">
                    <a:solidFill>
                      <a:srgbClr val="FD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850" b="0">
                          <a:solidFill>
                            <a:srgbClr val="14213D"/>
                          </a:solidFill>
                          <a:latin typeface="Arial"/>
                          <a:ea typeface="微软雅黑"/>
                        </a:rPr>
                        <a:t>统一入口下由 Harness 判定单体 / 单体+评审 / 小团队 / 全量团队；业界仅到子 Agent 自动委派（L2），形态级路由（L3）尚无产品化闭环，学术已验证降本至多 52%</a:t>
                      </a:r>
                    </a:p>
                  </a:txBody>
                  <a:tcPr marL="68580" marR="68580" marT="41148" marB="41148" anchor="ctr">
                    <a:solidFill>
                      <a:srgbClr val="FDF1F1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950" b="1">
                          <a:solidFill>
                            <a:srgbClr val="14213D"/>
                          </a:solidFill>
                          <a:latin typeface="Arial"/>
                          <a:ea typeface="微软雅黑"/>
                        </a:rPr>
                        <a:t>升配降配
与成本护栏</a:t>
                      </a:r>
                    </a:p>
                  </a:txBody>
                  <a:tcPr marL="68580" marR="6858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850" b="0">
                          <a:solidFill>
                            <a:srgbClr val="5A6678"/>
                          </a:solidFill>
                          <a:latin typeface="Arial"/>
                          <a:ea typeface="微软雅黑"/>
                        </a:rPr>
                        <a:t>默认单体起步，触发条件下 checkpoint 移交团队续跑而非重启，收敛后自动降配；任务与租户级预算、递归深度与并发上限、异常熔断，支撑大客户成本可承诺</a:t>
                      </a:r>
                    </a:p>
                  </a:txBody>
                  <a:tcPr marL="68580" marR="68580" marT="41148" marB="41148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950" b="1">
                          <a:solidFill>
                            <a:srgbClr val="14213D"/>
                          </a:solidFill>
                          <a:latin typeface="Arial"/>
                          <a:ea typeface="微软雅黑"/>
                        </a:rPr>
                        <a:t>团队记忆
与经验复利</a:t>
                      </a:r>
                    </a:p>
                  </a:txBody>
                  <a:tcPr marL="68580" marR="68580" marT="41148" marB="41148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850" b="0">
                          <a:solidFill>
                            <a:srgbClr val="5A6678"/>
                          </a:solidFill>
                          <a:latin typeface="Arial"/>
                          <a:ea typeface="微软雅黑"/>
                        </a:rPr>
                        <a:t>Teammate 持续化上下文 + 执行轨迹复盘 + 失败模式库反哺路由与拆解；Codebase 与企业知识按角色定向注入，形成“越用越强”，区别于竞品一次性构造的团队</a:t>
                      </a:r>
                    </a:p>
                  </a:txBody>
                  <a:tcPr marL="68580" marR="68580" marT="41148" marB="41148" anchor="ctr">
                    <a:solidFill>
                      <a:srgbClr val="F6F8FB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950" b="1">
                          <a:solidFill>
                            <a:srgbClr val="14213D"/>
                          </a:solidFill>
                          <a:latin typeface="Arial"/>
                          <a:ea typeface="微软雅黑"/>
                        </a:rPr>
                        <a:t>企业级可信
与门禁闭环</a:t>
                      </a:r>
                    </a:p>
                  </a:txBody>
                  <a:tcPr marL="68580" marR="68580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850" b="0">
                          <a:solidFill>
                            <a:srgbClr val="5A6678"/>
                          </a:solidFill>
                          <a:latin typeface="Arial"/>
                          <a:ea typeface="微软雅黑"/>
                        </a:rPr>
                        <a:t>单线程写入 + worktree 沙箱隔离；产出必过 CodeCheck / CloudTest / 流水线门禁；最小权限、全链路审计、四级作用域治理与私有化合规——纯 IDE 类竞品的结构性短板</a:t>
                      </a:r>
                    </a:p>
                  </a:txBody>
                  <a:tcPr marL="68580" marR="68580" marT="41148" marB="41148" anchor="ctr"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 wrap="square"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sz="950" b="1">
                          <a:solidFill>
                            <a:srgbClr val="14213D"/>
                          </a:solidFill>
                          <a:latin typeface="Arial"/>
                          <a:ea typeface="微软雅黑"/>
                        </a:rPr>
                        <a:t>场景化
差异化资产</a:t>
                      </a:r>
                    </a:p>
                  </a:txBody>
                  <a:tcPr marL="68580" marR="68580" marT="41148" marB="41148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6000"/>
                        </a:lnSpc>
                      </a:pPr>
                      <a:r>
                        <a:rPr sz="850" b="0">
                          <a:solidFill>
                            <a:srgbClr val="5A6678"/>
                          </a:solidFill>
                          <a:latin typeface="Arial"/>
                          <a:ea typeface="微软雅黑"/>
                        </a:rPr>
                        <a:t>鸿蒙适配迁移专家团 + 存量代码 Codebase 深度理解 + 华为研发体系 Skills 沉淀，构筑竞品不可迁移的场景护城河</a:t>
                      </a:r>
                    </a:p>
                  </a:txBody>
                  <a:tcPr marL="68580" marR="68580" marT="41148" marB="41148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72" name="Rectangle 71"/>
          <p:cNvSpPr/>
          <p:nvPr/>
        </p:nvSpPr>
        <p:spPr>
          <a:xfrm>
            <a:off x="384048" y="6345936"/>
            <a:ext cx="11423599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84048" y="6428232"/>
            <a:ext cx="114235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5A6678"/>
                </a:solidFill>
                <a:latin typeface="Arial"/>
                <a:ea typeface="微软雅黑"/>
              </a:rPr>
              <a:t>度量口径：拆解一致性 · 蓝图复用率 · 路由准确率 · Token/任务 · 人工干预次数 · 一次通过率 · 并行加速比</a:t>
            </a:r>
          </a:p>
          <a:p>
            <a:pPr>
              <a:lnSpc>
                <a:spcPct val="125000"/>
              </a:lnSpc>
            </a:pPr>
            <a:r>
              <a:rPr sz="850" b="0">
                <a:solidFill>
                  <a:srgbClr val="5A6678"/>
                </a:solidFill>
                <a:latin typeface="Arial"/>
                <a:ea typeface="微软雅黑"/>
              </a:rPr>
              <a:t>数据锚点：多智能体 ≈ 15× Chat Token（Anthropic）· 多智能体轨迹失败率 41%~87%（NeurIPS'25）· 编排形态路由降本至多 52%（MasRouter, ACL'25）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