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28016"/>
            <a:ext cx="115214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A"/>
                </a:solidFill>
                <a:latin typeface="微软雅黑"/>
                <a:ea typeface="微软雅黑"/>
              </a:rPr>
              <a:t>Agent Team 竞争力构建规划:从单 Agent 到企业级数字团队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03504"/>
            <a:ext cx="115214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统一入口 · 自动路由 · 自主编排 · 专家资产化 —— 三层递进能力 + 企业级治理底座,构筑差异化竞争力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548640"/>
            <a:ext cx="1463040" cy="3810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87552"/>
            <a:ext cx="5440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C7000B"/>
                </a:solidFill>
                <a:latin typeface="微软雅黑"/>
                <a:ea typeface="微软雅黑"/>
              </a:rPr>
              <a:t>规划构建架构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371600"/>
            <a:ext cx="475488" cy="438912"/>
          </a:xfrm>
          <a:prstGeom prst="ellipse">
            <a:avLst/>
          </a:prstGeom>
          <a:solidFill>
            <a:srgbClr val="1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371600"/>
            <a:ext cx="2468880" cy="438912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统一任务入口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微软雅黑"/>
                <a:ea typeface="微软雅黑"/>
              </a:rPr>
              <a:t>自然语言描述,免选执行模式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32688" y="1591056"/>
            <a:ext cx="896112" cy="0"/>
          </a:xfrm>
          <a:prstGeom prst="line">
            <a:avLst/>
          </a:prstGeom>
          <a:ln w="19050">
            <a:solidFill>
              <a:srgbClr val="1F2A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2240280" y="1993392"/>
            <a:ext cx="1645920" cy="804672"/>
          </a:xfrm>
          <a:prstGeom prst="diamond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复杂度评估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自动路由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63240" y="1810512"/>
            <a:ext cx="0" cy="182880"/>
          </a:xfrm>
          <a:prstGeom prst="line">
            <a:avLst/>
          </a:prstGeom>
          <a:ln w="19050">
            <a:solidFill>
              <a:srgbClr val="1F2A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43000" y="2395728"/>
            <a:ext cx="1097280" cy="621792"/>
          </a:xfrm>
          <a:prstGeom prst="line">
            <a:avLst/>
          </a:prstGeom>
          <a:ln w="19050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2432304"/>
            <a:ext cx="914400" cy="228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50" b="0">
                <a:solidFill>
                  <a:srgbClr val="5A6472"/>
                </a:solidFill>
                <a:latin typeface="微软雅黑"/>
                <a:ea typeface="微软雅黑"/>
              </a:rPr>
              <a:t>简单任务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017520"/>
            <a:ext cx="1188720" cy="54864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单 Agent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直接执行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86200" y="2395728"/>
            <a:ext cx="155448" cy="530352"/>
          </a:xfrm>
          <a:prstGeom prst="line">
            <a:avLst/>
          </a:prstGeom>
          <a:ln w="19050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41648" y="2377440"/>
            <a:ext cx="914400" cy="228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50" b="0">
                <a:solidFill>
                  <a:srgbClr val="5A6472"/>
                </a:solidFill>
                <a:latin typeface="微软雅黑"/>
                <a:ea typeface="微软雅黑"/>
              </a:rPr>
              <a:t>复杂任务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40" y="2926080"/>
            <a:ext cx="3310128" cy="1691640"/>
          </a:xfrm>
          <a:prstGeom prst="roundRect">
            <a:avLst>
              <a:gd name="adj" fmla="val 12000"/>
            </a:avLst>
          </a:prstGeom>
          <a:solidFill>
            <a:srgbClr val="EEF6F4"/>
          </a:solidFill>
          <a:ln w="15240">
            <a:solidFill>
              <a:srgbClr val="1F7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2980944"/>
            <a:ext cx="2194560" cy="228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1F7A6D"/>
                </a:solidFill>
                <a:latin typeface="微软雅黑"/>
                <a:ea typeface="微软雅黑"/>
              </a:rPr>
              <a:t>Agent Team · 自主编排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46704" y="3218688"/>
            <a:ext cx="1371600" cy="411480"/>
          </a:xfrm>
          <a:prstGeom prst="roundRect">
            <a:avLst>
              <a:gd name="adj" fmla="val 12000"/>
            </a:avLst>
          </a:prstGeom>
          <a:solidFill>
            <a:srgbClr val="1F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Team Lead:递归拆解·组队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42032" y="3858768"/>
            <a:ext cx="93268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7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900" b="0">
                <a:solidFill>
                  <a:srgbClr val="1F2A3A"/>
                </a:solidFill>
                <a:latin typeface="微软雅黑"/>
                <a:ea typeface="微软雅黑"/>
              </a:rPr>
              <a:t>开发专家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3008376" y="3630168"/>
            <a:ext cx="1024128" cy="228600"/>
          </a:xfrm>
          <a:prstGeom prst="line">
            <a:avLst/>
          </a:prstGeom>
          <a:ln w="15240">
            <a:solidFill>
              <a:srgbClr val="1F7A6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593592" y="3858768"/>
            <a:ext cx="93268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7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900" b="0">
                <a:solidFill>
                  <a:srgbClr val="1F2A3A"/>
                </a:solidFill>
                <a:latin typeface="微软雅黑"/>
                <a:ea typeface="微软雅黑"/>
              </a:rPr>
              <a:t>测试专家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32504" y="3630168"/>
            <a:ext cx="27432" cy="228600"/>
          </a:xfrm>
          <a:prstGeom prst="line">
            <a:avLst/>
          </a:prstGeom>
          <a:ln w="15240">
            <a:solidFill>
              <a:srgbClr val="1F7A6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45152" y="3858768"/>
            <a:ext cx="93268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7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900" b="0">
                <a:solidFill>
                  <a:srgbClr val="1F2A3A"/>
                </a:solidFill>
                <a:latin typeface="微软雅黑"/>
                <a:ea typeface="微软雅黑"/>
              </a:rPr>
              <a:t>安全专家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32504" y="3630168"/>
            <a:ext cx="1078992" cy="228600"/>
          </a:xfrm>
          <a:prstGeom prst="line">
            <a:avLst/>
          </a:prstGeom>
          <a:ln w="15240">
            <a:solidFill>
              <a:srgbClr val="1F7A6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468880" y="4315968"/>
            <a:ext cx="3108960" cy="228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00" b="0">
                <a:solidFill>
                  <a:srgbClr val="5A6472"/>
                </a:solidFill>
                <a:latin typeface="微软雅黑"/>
                <a:ea typeface="微软雅黑"/>
              </a:rPr>
              <a:t>共享任务列表 · Teammate 间消息协同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91640" y="3291840"/>
            <a:ext cx="685800" cy="0"/>
          </a:xfrm>
          <a:prstGeom prst="line">
            <a:avLst/>
          </a:prstGeom>
          <a:ln w="19050">
            <a:solidFill>
              <a:srgbClr val="C7000B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53312" y="2834640"/>
            <a:ext cx="1463040" cy="228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50" b="1">
                <a:solidFill>
                  <a:srgbClr val="C7000B"/>
                </a:solidFill>
                <a:latin typeface="微软雅黑"/>
                <a:ea typeface="微软雅黑"/>
              </a:rPr>
              <a:t>动态升降级</a:t>
            </a:r>
          </a:p>
        </p:txBody>
      </p:sp>
      <p:sp>
        <p:nvSpPr>
          <p:cNvPr id="28" name="Can 27"/>
          <p:cNvSpPr/>
          <p:nvPr/>
        </p:nvSpPr>
        <p:spPr>
          <a:xfrm>
            <a:off x="502920" y="4983480"/>
            <a:ext cx="1371600" cy="658368"/>
          </a:xfrm>
          <a:prstGeom prst="can">
            <a:avLst/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专家/技能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资产库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68880" y="5029200"/>
            <a:ext cx="12801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00" b="1">
                <a:solidFill>
                  <a:srgbClr val="1F2A3A"/>
                </a:solidFill>
                <a:latin typeface="微软雅黑"/>
                <a:ea typeface="微软雅黑"/>
              </a:rPr>
              <a:t>统一交付</a:t>
            </a:r>
          </a:p>
          <a:p>
            <a:pPr algn="ctr"/>
            <a:r>
              <a:rPr sz="850" b="0">
                <a:solidFill>
                  <a:srgbClr val="5A6472"/>
                </a:solidFill>
                <a:latin typeface="微软雅黑"/>
                <a:ea typeface="微软雅黑"/>
              </a:rPr>
              <a:t>结果可审计</a:t>
            </a:r>
          </a:p>
        </p:txBody>
      </p:sp>
      <p:sp>
        <p:nvSpPr>
          <p:cNvPr id="30" name="Can 29"/>
          <p:cNvSpPr/>
          <p:nvPr/>
        </p:nvSpPr>
        <p:spPr>
          <a:xfrm>
            <a:off x="4315968" y="4983480"/>
            <a:ext cx="1371600" cy="658368"/>
          </a:xfrm>
          <a:prstGeom prst="can">
            <a:avLst/>
          </a:prstGeom>
          <a:solidFill>
            <a:srgbClr val="1F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团队蓝图库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(版本化)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97280" y="3566160"/>
            <a:ext cx="1463040" cy="1463040"/>
          </a:xfrm>
          <a:prstGeom prst="line">
            <a:avLst/>
          </a:prstGeom>
          <a:ln w="19050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3246120" y="4617720"/>
            <a:ext cx="274320" cy="411480"/>
          </a:xfrm>
          <a:prstGeom prst="line">
            <a:avLst/>
          </a:prstGeom>
          <a:ln w="19050">
            <a:solidFill>
              <a:srgbClr val="1F7A6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417320" y="4617720"/>
            <a:ext cx="1280160" cy="365760"/>
          </a:xfrm>
          <a:prstGeom prst="line">
            <a:avLst/>
          </a:prstGeom>
          <a:ln w="19050">
            <a:solidFill>
              <a:srgbClr val="2C5F9E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05840" y="4681728"/>
            <a:ext cx="1554480" cy="228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00" b="0">
                <a:solidFill>
                  <a:srgbClr val="2C5F9E"/>
                </a:solidFill>
                <a:latin typeface="微软雅黑"/>
                <a:ea typeface="微软雅黑"/>
              </a:rPr>
              <a:t>专家实例化组队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617720" y="4617720"/>
            <a:ext cx="274320" cy="365760"/>
          </a:xfrm>
          <a:prstGeom prst="line">
            <a:avLst/>
          </a:prstGeom>
          <a:ln w="19050">
            <a:solidFill>
              <a:srgbClr val="1F7A6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681728" y="4681728"/>
            <a:ext cx="1097280" cy="228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00" b="0">
                <a:solidFill>
                  <a:srgbClr val="1F7A6D"/>
                </a:solidFill>
                <a:latin typeface="微软雅黑"/>
                <a:ea typeface="微软雅黑"/>
              </a:rPr>
              <a:t>执行后固化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5705856" y="1591056"/>
            <a:ext cx="0" cy="3529584"/>
          </a:xfrm>
          <a:prstGeom prst="line">
            <a:avLst/>
          </a:prstGeom>
          <a:ln w="19050">
            <a:solidFill>
              <a:srgbClr val="1F7A6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315968" y="1591056"/>
            <a:ext cx="1389888" cy="0"/>
          </a:xfrm>
          <a:prstGeom prst="line">
            <a:avLst/>
          </a:prstGeom>
          <a:ln w="19050">
            <a:solidFill>
              <a:srgbClr val="1F7A6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224528" y="1847088"/>
            <a:ext cx="1600200" cy="228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00" b="0">
                <a:solidFill>
                  <a:srgbClr val="1F7A6D"/>
                </a:solidFill>
                <a:latin typeface="微软雅黑"/>
                <a:ea typeface="微软雅黑"/>
              </a:rPr>
              <a:t>蓝图复用·例行触发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79008"/>
            <a:ext cx="5202936" cy="420624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企业级治理底座:权限审计 · 成本配额 · 效果度量(ROI) · 共享记忆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254496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850" b="0">
                <a:solidFill>
                  <a:srgbClr val="5A6472"/>
                </a:solidFill>
                <a:latin typeface="微软雅黑"/>
                <a:ea typeface="微软雅黑"/>
              </a:rPr>
              <a:t>实线 = 任务流    虚线 = 资产/反馈流    架构原则:写操作单线程 + 多 Agent 贡献智能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987552"/>
            <a:ext cx="5897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C7000B"/>
                </a:solidFill>
                <a:latin typeface="微软雅黑"/>
                <a:ea typeface="微软雅黑"/>
              </a:rPr>
              <a:t>竞争力特性规划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5989320" y="1316736"/>
          <a:ext cx="5897880" cy="5138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432511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关键竞争力</a:t>
                      </a:r>
                    </a:p>
                  </a:txBody>
                  <a:tcPr anchor="ctr">
                    <a:solidFill>
                      <a:srgbClr val="1F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竞争力描述</a:t>
                      </a:r>
                    </a:p>
                  </a:txBody>
                  <a:tcPr anchor="ctr">
                    <a:solidFill>
                      <a:srgbClr val="1F2A3A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专家/专家团资产体系</a:t>
                      </a:r>
                    </a:p>
                  </a:txBody>
                  <a:tcPr anchor="ctr" marL="63500" marR="38100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预置研发领域专家库与场景化专家团模板,一句话唤起整团;企业专家工厂支持规范/资产蒸馏定制;专家市场实现共享、版本化与审核治理</a:t>
                      </a:r>
                    </a:p>
                  </a:txBody>
                  <a:tcPr anchor="ctr" marL="76200" marR="63500">
                    <a:solidFill>
                      <a:srgbClr val="F5F7FA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任务自主编排(自动组队)</a:t>
                      </a:r>
                    </a:p>
                  </a:txBody>
                  <a:tcPr anchor="ctr" marL="63500" marR="38100">
                    <a:solidFill>
                      <a:srgbClr val="EA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递归 Planner 意图理解与任务拆解,按子任务自动合成 Teammate(角色/模型/工具/上下文);共享任务列表 + 依赖图调度,并行推进</a:t>
                      </a:r>
                    </a:p>
                  </a:txBody>
                  <a:tcPr anchor="ctr" marL="76200" marR="63500">
                    <a:solidFill>
                      <a:srgbClr val="EAEEF4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团队蓝图固化</a:t>
                      </a:r>
                    </a:p>
                  </a:txBody>
                  <a:tcPr anchor="ctr" marL="63500" marR="38100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编队结构、角色分工、执行流程一键沉淀为参数化、版本化蓝图资产,支持重放与回归评测,解决“每次生成不一致”;支持用户自组团队并固化</a:t>
                      </a:r>
                    </a:p>
                  </a:txBody>
                  <a:tcPr anchor="ctr" marL="76200" marR="63500">
                    <a:solidFill>
                      <a:srgbClr val="F5F7FA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7000B"/>
                          </a:solidFill>
                          <a:latin typeface="微软雅黑"/>
                          <a:ea typeface="微软雅黑"/>
                        </a:rPr>
                        <a:t>复杂度自适应路由</a:t>
                      </a:r>
                    </a:p>
                  </a:txBody>
                  <a:tcPr anchor="ctr" marL="63500" marR="38100">
                    <a:solidFill>
                      <a:srgbClr val="EA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统一入口免选择,复杂度评估驱动三档路由(单 Agent / 子 Agent / 团队),决策可解释、可覆盖;运行中动态升降级,业界首个显式产品化</a:t>
                      </a:r>
                    </a:p>
                  </a:txBody>
                  <a:tcPr anchor="ctr" marL="76200" marR="63500">
                    <a:solidFill>
                      <a:srgbClr val="EAEEF4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成本-质量协同治理</a:t>
                      </a:r>
                    </a:p>
                  </a:txBody>
                  <a:tcPr anchor="ctr" marL="63500" marR="38100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团队模式 Token 成本随规模线性增长,路由决策纳入成本预算约束;基于任务级反馈在线学习,持续优化成本-质量帕累托前沿</a:t>
                      </a:r>
                    </a:p>
                  </a:txBody>
                  <a:tcPr anchor="ctr" marL="76200" marR="63500">
                    <a:solidFill>
                      <a:srgbClr val="F5F7FA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企业级治理与度量底座</a:t>
                      </a:r>
                    </a:p>
                  </a:txBody>
                  <a:tcPr anchor="ctr" marL="63500" marR="38100">
                    <a:solidFill>
                      <a:srgbClr val="EA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A"/>
                          </a:solidFill>
                          <a:latin typeface="微软雅黑"/>
                          <a:ea typeface="微软雅黑"/>
                        </a:rPr>
                        <a:t>统一控制面纳管全部 Agent 资产:权限、审计、配额;路由决策全程留痕可审计;Agent 效果与 ROI 度量看板;跨任务共享记忆空间</a:t>
                      </a:r>
                    </a:p>
                  </a:txBody>
                  <a:tcPr anchor="ctr" marL="76200" marR="63500">
                    <a:solidFill>
                      <a:srgbClr val="EAEEF4"/>
                    </a:solidFill>
                  </a:tcPr>
                </a:tc>
              </a:tr>
            </a:tbl>
          </a:graphicData>
        </a:graphic>
      </p:graphicFrame>
      <p:sp>
        <p:nvSpPr>
          <p:cNvPr id="44" name="TextBox 43"/>
          <p:cNvSpPr txBox="1"/>
          <p:nvPr/>
        </p:nvSpPr>
        <p:spPr>
          <a:xfrm>
            <a:off x="5989320" y="6501384"/>
            <a:ext cx="5897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A6472"/>
                </a:solidFill>
                <a:latin typeface="微软雅黑"/>
                <a:ea typeface="微软雅黑"/>
              </a:rPr>
              <a:t>对标:Claude Code Agent Teams / Cursor 递归编排 / Devin Managed Devins / Grok Bot / WorkBuddy 专家团 / GitHub Agent HQ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