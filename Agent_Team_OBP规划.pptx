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28016"/>
            <a:ext cx="1152144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>
                <a:solidFill>
                  <a:srgbClr val="1F2A3A"/>
                </a:solidFill>
                <a:latin typeface="微软雅黑"/>
                <a:ea typeface="微软雅黑"/>
              </a:rPr>
              <a:t>Agent Team 竞争力构建规划:从单 Agent 到企业级数字团队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603504"/>
            <a:ext cx="1152144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统一入口 · 自动路由 · 自主编排 · 专家资产化 —— 三层递进能力 + 企业级治理底座,构筑差异化竞争力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548640"/>
            <a:ext cx="1463040" cy="381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87552"/>
            <a:ext cx="54406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C7000B"/>
                </a:solidFill>
                <a:latin typeface="微软雅黑"/>
                <a:ea typeface="微软雅黑"/>
              </a:rPr>
              <a:t>规划构建架构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34440" y="1316736"/>
            <a:ext cx="4526280" cy="402336"/>
          </a:xfrm>
          <a:prstGeom prst="roundRect">
            <a:avLst>
              <a:gd name="adj" fmla="val 8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统一任务入口:自然语言描述任务,免选单 Agent / Agent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16736"/>
            <a:ext cx="841248" cy="402336"/>
          </a:xfrm>
          <a:prstGeom prst="roundRect">
            <a:avLst>
              <a:gd name="adj" fmla="val 8000"/>
            </a:avLst>
          </a:prstGeom>
          <a:solidFill>
            <a:srgbClr val="6B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783080"/>
            <a:ext cx="841248" cy="932688"/>
          </a:xfrm>
          <a:prstGeom prst="roundRect">
            <a:avLst>
              <a:gd name="adj" fmla="val 8000"/>
            </a:avLst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体验层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783080"/>
            <a:ext cx="452628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2C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07592" y="1801368"/>
            <a:ext cx="437997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2C5F9E"/>
                </a:solidFill>
                <a:latin typeface="微软雅黑"/>
                <a:ea typeface="微软雅黑"/>
              </a:rPr>
              <a:t>专家 / 专家团(降低使用门槛,资产化运营)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7592" y="2057400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C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预置领域
专家库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6302" y="2057400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C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场景化专家
团模板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5012" y="2057400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C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企业专家
工厂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33722" y="2057400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2C5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专家/技能
市场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779776"/>
            <a:ext cx="841248" cy="932688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调度层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2779776"/>
            <a:ext cx="452628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07592" y="2798064"/>
            <a:ext cx="437997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C7000B"/>
                </a:solidFill>
                <a:latin typeface="微软雅黑"/>
                <a:ea typeface="微软雅黑"/>
              </a:rPr>
              <a:t>复杂度自适应路由(差异化主打:业界尚无显式产品化)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07592" y="3054096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任务复杂度
评估器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16302" y="3054096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三档执行
模式决策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5012" y="3054096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运行中动态
升降级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33722" y="3054096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成本-质量
策略路由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776472"/>
            <a:ext cx="841248" cy="932688"/>
          </a:xfrm>
          <a:prstGeom prst="roundRect">
            <a:avLst>
              <a:gd name="adj" fmla="val 8000"/>
            </a:avLst>
          </a:prstGeom>
          <a:solidFill>
            <a:srgbClr val="1F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编排层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3776472"/>
            <a:ext cx="452628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1F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07592" y="3794759"/>
            <a:ext cx="437997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F7A6D"/>
                </a:solidFill>
                <a:latin typeface="微软雅黑"/>
                <a:ea typeface="微软雅黑"/>
              </a:rPr>
              <a:t>自主编排与固化(确定性、可复用)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07592" y="4050791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递归Planner
任务拆解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16302" y="4050791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Teammate
动态合成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5012" y="4050791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团队蓝图
固化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33722" y="4050791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1F7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例行化
定时/事件触发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4773168"/>
            <a:ext cx="841248" cy="932688"/>
          </a:xfrm>
          <a:prstGeom prst="roundRect">
            <a:avLst>
              <a:gd name="adj" fmla="val 8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底座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4773168"/>
            <a:ext cx="4526280" cy="932688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592" y="4791455"/>
            <a:ext cx="437997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  <a:latin typeface="微软雅黑"/>
                <a:ea typeface="微软雅黑"/>
              </a:rPr>
              <a:t>企业级治理控制面(政企商用落地前提)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307592" y="5047488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权限与
审计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16302" y="5047488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成本配额
管控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25012" y="5047488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效果度量
ROI 看板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33722" y="5047488"/>
            <a:ext cx="1053846" cy="62179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4A5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0">
                <a:solidFill>
                  <a:srgbClr val="1F2A3A"/>
                </a:solidFill>
                <a:latin typeface="微软雅黑"/>
                <a:ea typeface="微软雅黑"/>
              </a:rPr>
              <a:t>共享记忆
上下文空间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751576"/>
            <a:ext cx="5440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5A6472"/>
                </a:solidFill>
                <a:latin typeface="微软雅黑"/>
                <a:ea typeface="微软雅黑"/>
              </a:rPr>
              <a:t>架构原则:写操作单线程 + 多 Agent 贡献智能(map-reduce-and-manage),规避并行写冲突与成本失控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987552"/>
            <a:ext cx="589788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C7000B"/>
                </a:solidFill>
                <a:latin typeface="微软雅黑"/>
                <a:ea typeface="微软雅黑"/>
              </a:rPr>
              <a:t>竞争力特性规划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989320" y="1316736"/>
          <a:ext cx="5897880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432511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关键竞争力</a:t>
                      </a:r>
                    </a:p>
                  </a:txBody>
                  <a:tcPr anchor="ctr">
                    <a:solidFill>
                      <a:srgbClr val="1F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竞争力描述</a:t>
                      </a:r>
                    </a:p>
                  </a:txBody>
                  <a:tcPr anchor="ctr">
                    <a:solidFill>
                      <a:srgbClr val="1F2A3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专家/专家团资产体系</a:t>
                      </a:r>
                    </a:p>
                  </a:txBody>
                  <a:tcPr anchor="ctr" marL="63500" marR="381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预置研发领域专家库与场景化专家团模板,一句话唤起整团;企业专家工厂支持规范/资产蒸馏定制;专家市场实现共享、版本化与审核治理</a:t>
                      </a:r>
                    </a:p>
                  </a:txBody>
                  <a:tcPr anchor="ctr" marL="76200" marR="63500">
                    <a:solidFill>
                      <a:srgbClr val="F5F7F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任务自主编排(自动组队)</a:t>
                      </a:r>
                    </a:p>
                  </a:txBody>
                  <a:tcPr anchor="ctr" marL="63500" marR="38100"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递归 Planner 意图理解与任务拆解,按子任务自动合成 Teammate(角色/模型/工具/上下文);共享任务列表 + 依赖图调度,并行推进</a:t>
                      </a:r>
                    </a:p>
                  </a:txBody>
                  <a:tcPr anchor="ctr" marL="76200" marR="63500">
                    <a:solidFill>
                      <a:srgbClr val="EAEEF4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团队蓝图固化</a:t>
                      </a:r>
                    </a:p>
                  </a:txBody>
                  <a:tcPr anchor="ctr" marL="63500" marR="381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编队结构、角色分工、执行流程一键沉淀为参数化、版本化蓝图资产,支持重放与回归评测,解决“每次生成不一致”;支持用户自组团队并固化</a:t>
                      </a:r>
                    </a:p>
                  </a:txBody>
                  <a:tcPr anchor="ctr" marL="76200" marR="63500">
                    <a:solidFill>
                      <a:srgbClr val="F5F7F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C7000B"/>
                          </a:solidFill>
                          <a:latin typeface="微软雅黑"/>
                          <a:ea typeface="微软雅黑"/>
                        </a:rPr>
                        <a:t>复杂度自适应路由</a:t>
                      </a:r>
                    </a:p>
                  </a:txBody>
                  <a:tcPr anchor="ctr" marL="63500" marR="38100"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统一入口免选择,复杂度评估驱动三档路由(单 Agent / 子 Agent / 团队),决策可解释、可覆盖;运行中动态升降级,业界首个显式产品化</a:t>
                      </a:r>
                    </a:p>
                  </a:txBody>
                  <a:tcPr anchor="ctr" marL="76200" marR="63500">
                    <a:solidFill>
                      <a:srgbClr val="EAEEF4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成本-质量协同治理</a:t>
                      </a:r>
                    </a:p>
                  </a:txBody>
                  <a:tcPr anchor="ctr" marL="63500" marR="38100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团队模式 Token 成本随规模线性增长,路由决策纳入成本预算约束;基于任务级反馈在线学习,持续优化成本-质量帕累托前沿</a:t>
                      </a:r>
                    </a:p>
                  </a:txBody>
                  <a:tcPr anchor="ctr" marL="76200" marR="63500">
                    <a:solidFill>
                      <a:srgbClr val="F5F7F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企业级治理与度量底座</a:t>
                      </a:r>
                    </a:p>
                  </a:txBody>
                  <a:tcPr anchor="ctr" marL="63500" marR="38100">
                    <a:solidFill>
                      <a:srgbClr val="EAEE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A3A"/>
                          </a:solidFill>
                          <a:latin typeface="微软雅黑"/>
                          <a:ea typeface="微软雅黑"/>
                        </a:rPr>
                        <a:t>统一控制面纳管全部 Agent 资产:权限、审计、配额;路由决策全程留痕可审计;Agent 效果与 ROI 度量看板;跨任务共享记忆空间</a:t>
                      </a:r>
                    </a:p>
                  </a:txBody>
                  <a:tcPr anchor="ctr" marL="76200" marR="63500">
                    <a:solidFill>
                      <a:srgbClr val="EAEEF4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5989320" y="6501384"/>
            <a:ext cx="58978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A6472"/>
                </a:solidFill>
                <a:latin typeface="微软雅黑"/>
                <a:ea typeface="微软雅黑"/>
              </a:rPr>
              <a:t>对标:Claude Code Agent Teams / Cursor 递归编排 / Devin Managed Devins / Grok Bot / WorkBuddy 专家团 / GitHub Agent HQ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