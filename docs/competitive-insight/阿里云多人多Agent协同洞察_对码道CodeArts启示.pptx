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竞争洞察｜阿里云以 Qoder、QoderWake、千问办公构建多人多 Agent 协同入口及对码道 CodeArts 的启示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03504"/>
            <a:ext cx="11521440" cy="2377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研判视角：多人多 Agent 协同与项目能力 ｜ 信息来源：2026 云栖大会（9.22–9.24，“智以致用”）发布内容、Qoder / QoderWake 官方文档与更新日志、千问办公公开报道 ｜ 截至 2026-09-26；标注【推断】处为分析判断，非官方表述。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96112"/>
            <a:ext cx="11548872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20040" y="896112"/>
            <a:ext cx="11548872" cy="384048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FFD966"/>
                </a:solidFill>
                <a:latin typeface="微软雅黑"/>
                <a:ea typeface="微软雅黑"/>
                <a:cs typeface="微软雅黑"/>
              </a:rPr>
              <a:t>云栖 2026 顶层叙事  </a:t>
            </a: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吴泳铭：机器智能时代三大基石 = AI 模型 / AI 芯片 / AI 云，“Agent 需长时间执行任务，将成为云上‘居民’，持续调用算力”，2032 年数据中心超 20GW　｜　</a:t>
            </a: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李飞飞：Agentic Cloud 围绕 Model / Harness / Context 重构云，发布 AgentCore、Agent Sandbox、Agentic Computer（Agent 专属长期在线云电脑工位），“云的价值从运营算力转向运营智力”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58184" cy="3675887"/>
          </a:xfrm>
          <a:prstGeom prst="rect">
            <a:avLst/>
          </a:prstGeom>
          <a:solidFill>
            <a:srgbClr val="FFF4D6"/>
          </a:solidFill>
          <a:ln w="12700">
            <a:solidFill>
              <a:srgbClr val="F2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758184" cy="365760"/>
          </a:xfrm>
          <a:prstGeom prst="rect">
            <a:avLst/>
          </a:prstGeom>
          <a:solidFill>
            <a:srgbClr val="E3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2130552" cy="365760"/>
          </a:xfrm>
          <a:prstGeom prst="rect">
            <a:avLst/>
          </a:prstGeom>
          <a:noFill/>
        </p:spPr>
        <p:txBody>
          <a:bodyPr wrap="square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Qoder｜以编程智能体为核心的智能体平台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1" y="1449324"/>
            <a:ext cx="1554480" cy="2103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60" b="1" i="0">
                <a:solidFill>
                  <a:srgbClr val="E37B00"/>
                </a:solidFill>
                <a:latin typeface="微软雅黑"/>
                <a:ea typeface="微软雅黑"/>
                <a:cs typeface="微软雅黑"/>
              </a:rPr>
              <a:t>2026.9.23 云栖发布 · 企业版内测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37360"/>
            <a:ext cx="3758184" cy="21945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" b="0" i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全球 600 万+ 用户、10 万+ 企业；七大产品形态共用 Agent Harness 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56815"/>
            <a:ext cx="3758184" cy="2194560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项目（Projects）：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以 Issue 组织多人研发工作，看板状态机（待规划→进行中→待验收→已完成）、优先级；可关联 Repo URL；支持“用 Agent 创建项目”；从 Issue 一键发起讨论，结论回写 Issue 跟踪验收。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讨论（Discussion）：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同事与专业 Agent 同空间评审需求 / 方案 / 缺陷；附件上下文、引用回复、@成员 / @Agent 分析材料与比较方案；“关键消息”沉淀结论；可查看 Agent 执行记录。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多人多 Agent 协同：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自定义智能体（指令 / 模型 / 权限 / 工具白名单）→ 智能体团队（1 负责人 + 1–4 成员：拆解、协调、汇总，人审阅）；另有 CLI Agent Teams、Cloud Agents 多智能体编排。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云端能力：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云端自动化定时任务；Cloud Agents 1.0 “Agent as a Service”（云沙箱按 Session 运行时长按秒计费）；Skill 自进化建议。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典型场景（官方示例）：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“支付幂等方案评审”：后端说明现有约束、测试补充异常场景、Agent 比较候选方案并列异常边界，“本次只分析、不修改代码”；结论标为关键消息回写 Issue。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现阶段短板：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仅链接邀请、未接组织架构；只能 @ 自己的 Agent；依赖拥有者设备在线；结论人工回写；缺需求 / 迭代 / 流水线等 DevOps 深度对象。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151376"/>
            <a:ext cx="3630168" cy="841248"/>
          </a:xfrm>
          <a:prstGeom prst="rect">
            <a:avLst/>
          </a:prstGeom>
          <a:solidFill>
            <a:srgbClr val="FFD966"/>
          </a:solidFill>
          <a:ln w="9525">
            <a:solidFill>
              <a:srgbClr val="F2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4048" y="4151376"/>
            <a:ext cx="3630168" cy="8412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40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▶ 产品战略意图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AI IDE → “人 + Agent 团队”的研发协作入口，以 Agent 为一等公民对标 Jira / Linear + Slack；商业模式从座席订阅转向“座席 + 云沙箱 + Qwen Token”三重计费；统一 Harness 底座低成本复用至 QoderWake、Cloud Agents，让 Coding Agent 成为所有 Agent 的“母体”（Beyond Coding）。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1371600"/>
            <a:ext cx="3758184" cy="3675887"/>
          </a:xfrm>
          <a:prstGeom prst="rect">
            <a:avLst/>
          </a:prstGeom>
          <a:solidFill>
            <a:srgbClr val="FFF4D6"/>
          </a:solidFill>
          <a:ln w="12700">
            <a:solidFill>
              <a:srgbClr val="F2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15384" y="1371600"/>
            <a:ext cx="3758184" cy="365760"/>
          </a:xfrm>
          <a:prstGeom prst="rect">
            <a:avLst/>
          </a:prstGeom>
          <a:solidFill>
            <a:srgbClr val="E3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15384" y="1371600"/>
            <a:ext cx="2130552" cy="365760"/>
          </a:xfrm>
          <a:prstGeom prst="rect">
            <a:avLst/>
          </a:prstGeom>
          <a:noFill/>
        </p:spPr>
        <p:txBody>
          <a:bodyPr wrap="square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QoderWake｜常驻 IM、7×24 在岗、持续进化的数字员工团队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449324"/>
            <a:ext cx="1554480" cy="2103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60" b="1" i="0">
                <a:solidFill>
                  <a:srgbClr val="E37B00"/>
                </a:solidFill>
                <a:latin typeface="微软雅黑"/>
                <a:ea typeface="微软雅黑"/>
                <a:cs typeface="微软雅黑"/>
              </a:rPr>
              <a:t>2026.9.7 发布 1.0 · 5.26 公测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1737360"/>
            <a:ext cx="3758184" cy="21945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" b="0" i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近 10 万 Waker、半数任务自动触发；27.6 万记忆、12.3 万技能（2.28 万自进化）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1956815"/>
            <a:ext cx="3758184" cy="2194560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多人多 Agent 协同：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Waker 群组——Leader 接单拆解、成员（本机 / 远程）并行、结果汇总回群；群技能 + 协作 SOP 定义“谁拆解、谁执行、谁验收、何时转人工”；WakerFlow 多步流程可版本回滚复用；真人专家求助机制。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结合 IM 能力：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常驻钉钉 / 飞书 / 企微群，@Waker 单机器人按职责路由多位 Waker；“觉醒模式”识别任务补充 / 新任务并沉淀话题与记忆；多任务并行、插话续跑；定时 / 事件 / API 触发，统一任务看板。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拥有长期记忆的数字员工：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五层记忆（个人 / 项目 / 群共享 / 成员 / 单聊）+ 四层上下文（岗位档案 / 现场协同 / 已确认记忆 / 可复用技能）；MEMORY.md 版本回滚、成长时间线；轨迹归因沉淀为记忆 / 技能 / 策略 / 验证器 / 工作流，Anti-Rot 防腐治理（淘汰、降权、合并、撤回）。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云端战略：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“员工与工位分离”：本地起步 → 云电脑 / ECS / 计算巢一键部署 7×24 运行；远程 Waker 跨设备组队；呼应阿里云 Agentic Computer 云工位与 Agent Sandbox。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典型研发群组：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产品经理 Waker 出需求 → 开发 Waker 编码 + 单测 → 测试 Waker 生成用例校验 → 失败回传迭代 → 人工验收；官方称 1.0 部分功能由该群组参与开发。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4151376"/>
            <a:ext cx="3630168" cy="841248"/>
          </a:xfrm>
          <a:prstGeom prst="rect">
            <a:avLst/>
          </a:prstGeom>
          <a:solidFill>
            <a:srgbClr val="FFD966"/>
          </a:solidFill>
          <a:ln w="9525">
            <a:solidFill>
              <a:srgbClr val="F2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79392" y="4151376"/>
            <a:ext cx="3630168" cy="8412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40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▶ 产品战略意图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把 Agent 从“个人工具”升级为常驻组织的“数字员工”，抢占组织协同入口；以记忆与时间构建壁垒（第 1 天基线 → 第 90 天专家级）；本地默认获客、云端工位收口——7×24 常驻把间歇负载变为持续负载，带动 ECS / 云电脑（CPU、内存）、记忆与轨迹存储、IM 长连接与事件流网络、无人时段 Token 消耗【推断】。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0728" y="1371600"/>
            <a:ext cx="3758184" cy="3675887"/>
          </a:xfrm>
          <a:prstGeom prst="rect">
            <a:avLst/>
          </a:prstGeom>
          <a:solidFill>
            <a:srgbClr val="FFF4D6"/>
          </a:solidFill>
          <a:ln w="12700">
            <a:solidFill>
              <a:srgbClr val="F2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110728" y="1371600"/>
            <a:ext cx="3758184" cy="365760"/>
          </a:xfrm>
          <a:prstGeom prst="rect">
            <a:avLst/>
          </a:prstGeom>
          <a:solidFill>
            <a:srgbClr val="E3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10728" y="1371600"/>
            <a:ext cx="2130552" cy="365760"/>
          </a:xfrm>
          <a:prstGeom prst="rect">
            <a:avLst/>
          </a:prstGeom>
          <a:noFill/>
        </p:spPr>
        <p:txBody>
          <a:bodyPr wrap="square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千问办公｜企业级 Agent 产品（钉钉团队，陈宇森负责）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449324"/>
            <a:ext cx="1554480" cy="2103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660" b="1" i="0">
                <a:solidFill>
                  <a:srgbClr val="E37B00"/>
                </a:solidFill>
                <a:latin typeface="微软雅黑"/>
                <a:ea typeface="微软雅黑"/>
                <a:cs typeface="微软雅黑"/>
              </a:rPr>
              <a:t>2026.9.22 云栖发布 · 8.3 公测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1737360"/>
            <a:ext cx="3758184" cy="21945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20" b="0" i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QoderWork+MuleRun+悟空整合；上线 30 天用户 3000 万，企业用户过半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8" y="1956815"/>
            <a:ext cx="3758184" cy="2194560"/>
          </a:xfrm>
          <a:prstGeom prst="rect">
            <a:avLst/>
          </a:prstGeom>
          <a:noFill/>
        </p:spPr>
        <p:txBody>
          <a:bodyPr wrap="square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企业上下文（Enterprise Context）：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“Context is All You Need”——群聊 / 文档 / 会议 / 知识库 / CRM-ERP 数据压缩、结构化，按任务实时供给；公司级 / 部门级知识空间；随业务周期刷新；专属压缩模型、低 Token 成本。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多人多 Agent 协同：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“协作空间”关联群聊 / 文档 / 知识库信息，加入成员与数字员工；人-Agent、Agent-Agent 同空间讨论分工，产出与进度统一沉淀；案例：富立卡查询→报价→合同三数字员工共享上下文围绕同一业务流转。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数字员工身份与安全：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给 Agent 发“工牌”（名称 / 部门 / 负责人 / 职责 / 授权范围 / 生命周期），可识别、授权、停用，全程可追溯；安全中心：沙箱划界、高风险审批拦截、最小权限、全程审计。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平台底座与入口：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Managed Agents 云端托管运行时（模型 / 工具 / MCP / 环境 / 凭证）；“应用”接入既有业务系统并回写结果；QwenNote A2 硬件采集线下“外部上下文”。</a:t>
            </a:r>
          </a:p>
          <a:p>
            <a:pPr algn="l">
              <a:lnSpc>
                <a:spcPct val="105000"/>
              </a:lnSpc>
              <a:spcAft>
                <a:spcPts val="250"/>
              </a:spcAft>
            </a:pPr>
            <a:r>
              <a:rPr sz="819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◆ 组织效能命题：</a:t>
            </a:r>
            <a:r>
              <a:rPr sz="77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陈宇森“三重障碍”：不懂（缺企业上下文）→ 不敢（安全）→ 不能（个体经验无法复用为组织能力）；与 QoderWake “经验到能力”、Qoder Skill 自进化同题。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74736" y="4151376"/>
            <a:ext cx="3630168" cy="841248"/>
          </a:xfrm>
          <a:prstGeom prst="rect">
            <a:avLst/>
          </a:prstGeom>
          <a:solidFill>
            <a:srgbClr val="FFD966"/>
          </a:solidFill>
          <a:ln w="9525">
            <a:solidFill>
              <a:srgbClr val="F2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74736" y="4151376"/>
            <a:ext cx="3630168" cy="84124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40" b="1" i="0">
                <a:solidFill>
                  <a:srgbClr val="B45500"/>
                </a:solidFill>
                <a:latin typeface="微软雅黑"/>
                <a:ea typeface="微软雅黑"/>
                <a:cs typeface="微软雅黑"/>
              </a:rPr>
              <a:t>▶ 产品战略意图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把企业上下文做成“不属于任何单一 Agent、属于企业客户”的数据基建层，上下文即护城河；借钉钉组织与权限体系为 Agent 赋予身份，破解大企业“不懂 / 不敢 / 不能”三重障碍；以机器人、按钮等原子化形态嵌入既有系统而非替代；上下文与集成沉淀形成对阿里云的数据引力锁定【推断】。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48072"/>
            <a:ext cx="11548872" cy="1463040"/>
          </a:xfrm>
          <a:prstGeom prst="rect">
            <a:avLst/>
          </a:prstGeom>
          <a:solidFill>
            <a:srgbClr val="E4F1FB"/>
          </a:solidFill>
          <a:ln w="12700">
            <a:solidFill>
              <a:srgbClr val="3D9B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20040" y="5148072"/>
            <a:ext cx="11548872" cy="274320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20040" y="5148072"/>
            <a:ext cx="11548872" cy="274320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观点｜对华为云码道 CodeArts 的洞察启示</a:t>
            </a:r>
            <a:r>
              <a:rPr sz="800" b="0" i="0">
                <a:solidFill>
                  <a:srgbClr val="DDEEFF"/>
                </a:solidFill>
                <a:latin typeface="微软雅黑"/>
                <a:ea typeface="微软雅黑"/>
                <a:cs typeface="微软雅黑"/>
              </a:rPr>
              <a:t>　　对手长板：常驻 IM + 记忆进化 + 云端工位叙事；对手短板：研发管理深度（轻量看板、人工回写、Agent 不可共享）——正是码道的存量优势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" y="5431536"/>
            <a:ext cx="11439144" cy="274320"/>
          </a:xfrm>
          <a:prstGeom prst="rect">
            <a:avLst/>
          </a:prstGeom>
          <a:noFill/>
        </p:spPr>
        <p:txBody>
          <a:bodyPr wrap="square" lIns="73152" tIns="0" rIns="73152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核心判断：</a:t>
            </a:r>
            <a:r>
              <a:rPr sz="800" b="1" i="0">
                <a:solidFill>
                  <a:srgbClr val="004C82"/>
                </a:solidFill>
                <a:latin typeface="微软雅黑"/>
                <a:ea typeface="微软雅黑"/>
                <a:cs typeface="微软雅黑"/>
              </a:rPr>
              <a:t>阿里正把 Coding Agent 从“个人工具”升级为“常驻云端、拥有记忆与身份的组织成员”，三条产品线同周发布抢占多人多 Agent 协同入口；码道应依托 DevOps 全流程对象与企业级治理，做深“项目为中心的人机团队协作 + 四级记忆 + 云端常驻工位”，把研发 Agent 的持续运行转化为华为云通算与智算增量。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" y="5715000"/>
            <a:ext cx="5664708" cy="877824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80"/>
              </a:spcAft>
            </a:pPr>
            <a:r>
              <a:rPr sz="790" b="1" i="0">
                <a:solidFill>
                  <a:srgbClr val="004C82"/>
                </a:solidFill>
                <a:latin typeface="微软雅黑"/>
                <a:ea typeface="微软雅黑"/>
                <a:cs typeface="微软雅黑"/>
              </a:rPr>
              <a:t>1. 以“项目”为一等实体，而非“会话”：</a:t>
            </a: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Agent 会话 / 讨论 / 任务原生挂接需求、迭代、代码仓、流水线对象，结论自动回写，补齐对手“轻量看板 + 人工回写”短板。</a:t>
            </a:r>
          </a:p>
          <a:p>
            <a:pPr algn="l">
              <a:lnSpc>
                <a:spcPct val="100000"/>
              </a:lnSpc>
              <a:spcAft>
                <a:spcPts val="180"/>
              </a:spcAft>
            </a:pPr>
            <a:r>
              <a:rPr sz="790" b="1" i="0">
                <a:solidFill>
                  <a:srgbClr val="004C82"/>
                </a:solidFill>
                <a:latin typeface="微软雅黑"/>
                <a:ea typeface="微软雅黑"/>
                <a:cs typeface="微软雅黑"/>
              </a:rPr>
              <a:t>2. 四级记忆先做深，补上对手缺失的“企业层”：</a:t>
            </a: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个人 → 项目 / 代码库 → 团队 → 企业（规范、安全基线、架构资产），定义写入门槛、可见范围、版本回滚与防腐治理。</a:t>
            </a:r>
          </a:p>
          <a:p>
            <a:pPr algn="l">
              <a:lnSpc>
                <a:spcPct val="100000"/>
              </a:lnSpc>
              <a:spcAft>
                <a:spcPts val="180"/>
              </a:spcAft>
            </a:pPr>
            <a:r>
              <a:rPr sz="790" b="1" i="0">
                <a:solidFill>
                  <a:srgbClr val="004C82"/>
                </a:solidFill>
                <a:latin typeface="微软雅黑"/>
                <a:ea typeface="微软雅黑"/>
                <a:cs typeface="微软雅黑"/>
              </a:rPr>
              <a:t>3. 数字员工 = 身份 + 权限 + 成长轨迹：</a:t>
            </a: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借鉴“工牌”与“成长时间线”，纳入企业 IAM 与审计体系，记忆 / 技能演进可视、可回滚，是政企采购前提。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9340" y="5715000"/>
            <a:ext cx="5664708" cy="877824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80"/>
              </a:spcAft>
            </a:pPr>
            <a:r>
              <a:rPr sz="790" b="1" i="0">
                <a:solidFill>
                  <a:srgbClr val="004C82"/>
                </a:solidFill>
                <a:latin typeface="微软雅黑"/>
                <a:ea typeface="微软雅黑"/>
                <a:cs typeface="微软雅黑"/>
              </a:rPr>
              <a:t>4. 多 Agent 团队绑定研发 SOP：</a:t>
            </a: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默认“需求分析 → 编码 → 测试 → 评审 → 人工验收”模板，Leader 拆解、失败回传、人工门禁，SOP 可沉淀复用。</a:t>
            </a:r>
          </a:p>
          <a:p>
            <a:pPr algn="l">
              <a:lnSpc>
                <a:spcPct val="100000"/>
              </a:lnSpc>
              <a:spcAft>
                <a:spcPts val="180"/>
              </a:spcAft>
            </a:pPr>
            <a:r>
              <a:rPr sz="790" b="1" i="0">
                <a:solidFill>
                  <a:srgbClr val="004C82"/>
                </a:solidFill>
                <a:latin typeface="微软雅黑"/>
                <a:ea typeface="微软雅黑"/>
                <a:cs typeface="微软雅黑"/>
              </a:rPr>
              <a:t>5. IM 是入口，不是终点：</a:t>
            </a: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打通 WeLink 等企业 IM，“群里 @ 一个机器人、后台路由多 Agent、结果回群”，结论同步回流项目对象，避免知识只留在群聊。</a:t>
            </a:r>
          </a:p>
          <a:p>
            <a:pPr algn="l">
              <a:lnSpc>
                <a:spcPct val="100000"/>
              </a:lnSpc>
              <a:spcAft>
                <a:spcPts val="180"/>
              </a:spcAft>
            </a:pPr>
            <a:r>
              <a:rPr sz="790" b="1" i="0">
                <a:solidFill>
                  <a:srgbClr val="004C82"/>
                </a:solidFill>
                <a:latin typeface="微软雅黑"/>
                <a:ea typeface="微软雅黑"/>
                <a:cs typeface="微软雅黑"/>
              </a:rPr>
              <a:t>6. 云端常驻工位带动通算与智算：</a:t>
            </a:r>
            <a:r>
              <a:rPr sz="7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云主机 / 云桌面 / 沙箱工位按 CPU、存储、网络计费；把告警分诊、CI 失败初诊、代码巡检等 7×24 值守做成持续云负载，结合鲲鹏 / 昇腾做“算网存协同”差异化。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620256"/>
            <a:ext cx="11548872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资料来源：2026 云栖大会公开报道（吴泳铭、李飞飞、陈宇森演讲，新华网 / 新浪 / 雷峰网 / 品玩 / 界面 / 澎湃）；docs.qoder.cn / docs.qoder.com 官方文档与更新日志；阿里云开发者社区《QoderWake 1.0 正式发布》《Qoder Cloud Agents 1.0 发布》；详见附件《阿里云 Qoder / QoderWake / 千问办公 多人多 Agent 协同与项目能力洞察》分析稿。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