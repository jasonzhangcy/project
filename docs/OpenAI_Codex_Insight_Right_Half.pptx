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274320"/>
            <a:ext cx="5715000" cy="6263640"/>
          </a:xfrm>
          <a:prstGeom prst="rect">
            <a:avLst/>
          </a:prstGeom>
          <a:noFill/>
          <a:ln w="9525">
            <a:solidFill>
              <a:srgbClr val="BFBFBF"/>
            </a:solidFill>
            <a:prstDash val="dash"/>
          </a:ln>
          <a:effectLst/>
        </p:spPr>
        <p:txBody>
          <a:bodyPr rtlCol="0" anchor="ctr" wrap="square" lIns="36576" tIns="18288" rIns="36576" bIns="18288"/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BFBFBF"/>
                </a:solidFill>
                <a:latin typeface="微软雅黑"/>
                <a:ea typeface="微软雅黑"/>
              </a:rPr>
              <a:t>左半页：当前</a:t>
            </a:r>
          </a:p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BFBFBF"/>
                </a:solidFill>
                <a:latin typeface="微软雅黑"/>
                <a:ea typeface="微软雅黑"/>
              </a:rPr>
              <a:t>OpenAI 发展趋势（已撰写，此处留空）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144768" y="274320"/>
            <a:ext cx="0" cy="6263640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309360" y="256032"/>
            <a:ext cx="5623560" cy="384048"/>
          </a:xfrm>
          <a:prstGeom prst="rect">
            <a:avLst/>
          </a:prstGeom>
          <a:noFill/>
        </p:spPr>
        <p:txBody>
          <a:bodyPr wrap="square" anchor="ctr" lIns="18288" tIns="0" rIns="18288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86A1E"/>
                </a:solidFill>
                <a:latin typeface="微软雅黑"/>
                <a:ea typeface="微软雅黑"/>
              </a:rPr>
              <a:t>未来：</a:t>
            </a:r>
            <a:r>
              <a:rPr sz="1400" b="1" i="0">
                <a:solidFill>
                  <a:srgbClr val="1F3864"/>
                </a:solidFill>
                <a:latin typeface="微软雅黑"/>
                <a:ea typeface="微软雅黑"/>
              </a:rPr>
              <a:t>从 Codex 到个人 AGI —— 代码成为通用智能体的内核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0" y="658368"/>
            <a:ext cx="822960" cy="32004"/>
          </a:xfrm>
          <a:prstGeom prst="rect">
            <a:avLst/>
          </a:prstGeom>
          <a:solidFill>
            <a:srgbClr val="E86A1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0" y="658368"/>
            <a:ext cx="4800600" cy="32004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09360" y="822960"/>
            <a:ext cx="5623560" cy="23774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txBody>
          <a:bodyPr rtlCol="0" anchor="ctr" wrap="square" lIns="73152" tIns="18288" rIns="36576" bIns="18288"/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</a:rPr>
              <a:t>① Codex 形态演进：</a:t>
            </a:r>
            <a:r>
              <a:rPr sz="1000" b="0" i="0">
                <a:solidFill>
                  <a:srgbClr val="FFFFFF"/>
                </a:solidFill>
                <a:latin typeface="微软雅黑"/>
                <a:ea typeface="微软雅黑"/>
              </a:rPr>
              <a:t>多形态并行  →  统一入口  →  收敛为一个极简 App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188720"/>
            <a:ext cx="1051560" cy="256032"/>
          </a:xfrm>
          <a:prstGeom prst="roundRect">
            <a:avLst>
              <a:gd name="adj" fmla="val 18000"/>
            </a:avLst>
          </a:prstGeom>
          <a:solidFill>
            <a:srgbClr val="F2F2F2"/>
          </a:solidFill>
          <a:ln w="6350">
            <a:solidFill>
              <a:srgbClr val="BFBFBF"/>
            </a:solidFill>
          </a:ln>
          <a:effectLst/>
        </p:spPr>
        <p:txBody>
          <a:bodyPr rtlCol="0" anchor="ctr" wrap="square" lIns="36576" tIns="18288" rIns="36576" bIns="18288"/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262626"/>
                </a:solidFill>
                <a:latin typeface="微软雅黑"/>
                <a:ea typeface="微软雅黑"/>
              </a:rPr>
              <a:t>CLI 命令行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08760"/>
            <a:ext cx="1051560" cy="256032"/>
          </a:xfrm>
          <a:prstGeom prst="roundRect">
            <a:avLst>
              <a:gd name="adj" fmla="val 18000"/>
            </a:avLst>
          </a:prstGeom>
          <a:solidFill>
            <a:srgbClr val="F2F2F2"/>
          </a:solidFill>
          <a:ln w="6350">
            <a:solidFill>
              <a:srgbClr val="BFBFBF"/>
            </a:solidFill>
          </a:ln>
          <a:effectLst/>
        </p:spPr>
        <p:txBody>
          <a:bodyPr rtlCol="0" anchor="ctr" wrap="square" lIns="36576" tIns="18288" rIns="36576" bIns="18288"/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262626"/>
                </a:solidFill>
                <a:latin typeface="微软雅黑"/>
                <a:ea typeface="微软雅黑"/>
              </a:rPr>
              <a:t>IDE 插件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828800"/>
            <a:ext cx="1051560" cy="256032"/>
          </a:xfrm>
          <a:prstGeom prst="roundRect">
            <a:avLst>
              <a:gd name="adj" fmla="val 18000"/>
            </a:avLst>
          </a:prstGeom>
          <a:solidFill>
            <a:srgbClr val="F2F2F2"/>
          </a:solidFill>
          <a:ln w="6350">
            <a:solidFill>
              <a:srgbClr val="BFBFBF"/>
            </a:solidFill>
          </a:ln>
          <a:effectLst/>
        </p:spPr>
        <p:txBody>
          <a:bodyPr rtlCol="0" anchor="ctr" wrap="square" lIns="36576" tIns="18288" rIns="36576" bIns="18288"/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262626"/>
                </a:solidFill>
                <a:latin typeface="微软雅黑"/>
                <a:ea typeface="微软雅黑"/>
              </a:rPr>
              <a:t>云端 Agent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148840"/>
            <a:ext cx="1051560" cy="256032"/>
          </a:xfrm>
          <a:prstGeom prst="roundRect">
            <a:avLst>
              <a:gd name="adj" fmla="val 18000"/>
            </a:avLst>
          </a:prstGeom>
          <a:solidFill>
            <a:srgbClr val="F2F2F2"/>
          </a:solidFill>
          <a:ln w="6350">
            <a:solidFill>
              <a:srgbClr val="BFBFBF"/>
            </a:solidFill>
          </a:ln>
          <a:effectLst/>
        </p:spPr>
        <p:txBody>
          <a:bodyPr rtlCol="0" anchor="ctr" wrap="square" lIns="36576" tIns="18288" rIns="36576" bIns="18288"/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262626"/>
                </a:solidFill>
                <a:latin typeface="微软雅黑"/>
                <a:ea typeface="微软雅黑"/>
              </a:rPr>
              <a:t>桌面 App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1463040"/>
            <a:ext cx="1508760" cy="713232"/>
          </a:xfrm>
          <a:prstGeom prst="roundRect">
            <a:avLst>
              <a:gd name="adj" fmla="val 18000"/>
            </a:avLst>
          </a:prstGeom>
          <a:solidFill>
            <a:srgbClr val="2E75B6"/>
          </a:solidFill>
          <a:ln>
            <a:noFill/>
          </a:ln>
          <a:effectLst/>
        </p:spPr>
        <p:txBody>
          <a:bodyPr rtlCol="0" anchor="ctr" wrap="square" lIns="36576" tIns="18288" rIns="36576" bIns="18288"/>
          <a:lstStyle/>
          <a:p>
            <a:pPr algn="ctr">
              <a:lnSpc>
                <a:spcPct val="105000"/>
              </a:lnSpc>
            </a:pPr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</a:rPr>
              <a:t>并入 ChatGPT</a:t>
            </a:r>
          </a:p>
          <a:p>
            <a:pPr algn="ctr">
              <a:lnSpc>
                <a:spcPct val="105000"/>
              </a:lnSpc>
            </a:pPr>
            <a:r>
              <a:rPr sz="800" b="0" i="0">
                <a:solidFill>
                  <a:srgbClr val="FFFFFF"/>
                </a:solidFill>
                <a:latin typeface="微软雅黑"/>
                <a:ea typeface="微软雅黑"/>
              </a:rPr>
              <a:t>同一入口 · 同一 Harness</a:t>
            </a:r>
          </a:p>
          <a:p>
            <a:pPr algn="ctr">
              <a:lnSpc>
                <a:spcPct val="105000"/>
              </a:lnSpc>
            </a:pPr>
            <a:r>
              <a:rPr sz="800" b="0" i="0">
                <a:solidFill>
                  <a:srgbClr val="FFFFFF"/>
                </a:solidFill>
                <a:latin typeface="微软雅黑"/>
                <a:ea typeface="微软雅黑"/>
              </a:rPr>
              <a:t>编程能力向全体用户开放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360920" y="1316736"/>
            <a:ext cx="438912" cy="502920"/>
          </a:xfrm>
          <a:prstGeom prst="line">
            <a:avLst/>
          </a:prstGeom>
          <a:ln w="12700">
            <a:solidFill>
              <a:srgbClr val="BFBFB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360920" y="1636776"/>
            <a:ext cx="438912" cy="182880"/>
          </a:xfrm>
          <a:prstGeom prst="line">
            <a:avLst/>
          </a:prstGeom>
          <a:ln w="12700">
            <a:solidFill>
              <a:srgbClr val="BFBFB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7360920" y="1819656"/>
            <a:ext cx="438912" cy="137160"/>
          </a:xfrm>
          <a:prstGeom prst="line">
            <a:avLst/>
          </a:prstGeom>
          <a:ln w="12700">
            <a:solidFill>
              <a:srgbClr val="BFBFB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7360920" y="1819656"/>
            <a:ext cx="438912" cy="457200"/>
          </a:xfrm>
          <a:prstGeom prst="line">
            <a:avLst/>
          </a:prstGeom>
          <a:ln w="12700">
            <a:solidFill>
              <a:srgbClr val="BFBFB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9912096" y="1106424"/>
            <a:ext cx="1389888" cy="1389888"/>
          </a:xfrm>
          <a:prstGeom prst="ellipse">
            <a:avLst/>
          </a:prstGeom>
          <a:noFill/>
          <a:ln w="19050">
            <a:solidFill>
              <a:srgbClr val="E86A1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966960" y="1161288"/>
            <a:ext cx="1280160" cy="12801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txBody>
          <a:bodyPr rtlCol="0" anchor="ctr" wrap="square" lIns="36576" tIns="18288" rIns="36576" bIns="18288"/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</a:rPr>
              <a:t>个人 AGI</a:t>
            </a:r>
          </a:p>
          <a:p>
            <a:pPr algn="ctr">
              <a:lnSpc>
                <a:spcPct val="105000"/>
              </a:lnSpc>
            </a:pPr>
            <a:r>
              <a:rPr sz="900" b="1" i="0">
                <a:solidFill>
                  <a:srgbClr val="FFFFFF"/>
                </a:solidFill>
                <a:latin typeface="微软雅黑"/>
                <a:ea typeface="微软雅黑"/>
              </a:rPr>
              <a:t>一个极简 App</a:t>
            </a:r>
          </a:p>
          <a:p>
            <a:pPr algn="ctr">
              <a:lnSpc>
                <a:spcPct val="105000"/>
              </a:lnSpc>
            </a:pPr>
            <a:r>
              <a:rPr sz="750" b="0" i="0">
                <a:solidFill>
                  <a:srgbClr val="FFFFFF"/>
                </a:solidFill>
                <a:latin typeface="微软雅黑"/>
                <a:ea typeface="微软雅黑"/>
              </a:rPr>
              <a:t>自适应界面</a:t>
            </a:r>
          </a:p>
          <a:p>
            <a:pPr algn="ctr">
              <a:lnSpc>
                <a:spcPct val="105000"/>
              </a:lnSpc>
            </a:pPr>
            <a:r>
              <a:rPr sz="750" b="0" i="0">
                <a:solidFill>
                  <a:srgbClr val="FFFFFF"/>
                </a:solidFill>
                <a:latin typeface="微软雅黑"/>
                <a:ea typeface="微软雅黑"/>
              </a:rPr>
              <a:t>语音优先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326880" y="1819656"/>
            <a:ext cx="566928" cy="0"/>
          </a:xfrm>
          <a:prstGeom prst="line">
            <a:avLst/>
          </a:prstGeom>
          <a:ln w="22225">
            <a:solidFill>
              <a:srgbClr val="E86A1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309360" y="2487168"/>
            <a:ext cx="1371600" cy="329184"/>
          </a:xfrm>
          <a:prstGeom prst="rect">
            <a:avLst/>
          </a:prstGeom>
          <a:noFill/>
        </p:spPr>
        <p:txBody>
          <a:bodyPr wrap="square" anchor="t" lIns="18288" tIns="0" rIns="18288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i="0">
                <a:solidFill>
                  <a:srgbClr val="1F3864"/>
                </a:solidFill>
                <a:latin typeface="微软雅黑"/>
                <a:ea typeface="微软雅黑"/>
              </a:rPr>
              <a:t>2025 · 多形态并行</a:t>
            </a:r>
          </a:p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595959"/>
                </a:solidFill>
                <a:latin typeface="微软雅黑"/>
                <a:ea typeface="微软雅黑"/>
              </a:rPr>
              <a:t>面向开发者，各形态独立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6680" y="2487168"/>
            <a:ext cx="1737360" cy="329184"/>
          </a:xfrm>
          <a:prstGeom prst="rect">
            <a:avLst/>
          </a:prstGeom>
          <a:noFill/>
        </p:spPr>
        <p:txBody>
          <a:bodyPr wrap="square" anchor="t" lIns="18288" tIns="0" rIns="18288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i="0">
                <a:solidFill>
                  <a:srgbClr val="1F3864"/>
                </a:solidFill>
                <a:latin typeface="微软雅黑"/>
                <a:ea typeface="微软雅黑"/>
              </a:rPr>
              <a:t>2026 · 统一入口</a:t>
            </a:r>
          </a:p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595959"/>
                </a:solidFill>
                <a:latin typeface="微软雅黑"/>
                <a:ea typeface="微软雅黑"/>
              </a:rPr>
              <a:t>用户 2000 万，增长近乎垂直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21240" y="2487168"/>
            <a:ext cx="1737360" cy="329184"/>
          </a:xfrm>
          <a:prstGeom prst="rect">
            <a:avLst/>
          </a:prstGeom>
          <a:noFill/>
        </p:spPr>
        <p:txBody>
          <a:bodyPr wrap="square" anchor="t" lIns="18288" tIns="0" rIns="18288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i="0">
                <a:solidFill>
                  <a:srgbClr val="E86A1E"/>
                </a:solidFill>
                <a:latin typeface="微软雅黑"/>
                <a:ea typeface="微软雅黑"/>
              </a:rPr>
              <a:t>未来 · 产品名消失</a:t>
            </a:r>
          </a:p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595959"/>
                </a:solidFill>
                <a:latin typeface="微软雅黑"/>
                <a:ea typeface="微软雅黑"/>
              </a:rPr>
              <a:t>只剩一个长期理解你的 AI</a:t>
            </a:r>
          </a:p>
        </p:txBody>
      </p:sp>
      <p:sp>
        <p:nvSpPr>
          <p:cNvPr id="23" name="Pentagon 22"/>
          <p:cNvSpPr/>
          <p:nvPr/>
        </p:nvSpPr>
        <p:spPr>
          <a:xfrm>
            <a:off x="6309360" y="2834640"/>
            <a:ext cx="2775204" cy="219456"/>
          </a:xfrm>
          <a:prstGeom prst="homePlate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137160" bIns="0"/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1F3864"/>
                </a:solidFill>
                <a:latin typeface="微软雅黑"/>
                <a:ea typeface="微软雅黑"/>
              </a:rPr>
              <a:t>形态：</a:t>
            </a:r>
            <a:r>
              <a:rPr sz="800" b="0" i="0">
                <a:solidFill>
                  <a:srgbClr val="1F3864"/>
                </a:solidFill>
                <a:latin typeface="微软雅黑"/>
                <a:ea typeface="微软雅黑"/>
              </a:rPr>
              <a:t>工具  →  入口  →  伙伴</a:t>
            </a:r>
          </a:p>
        </p:txBody>
      </p:sp>
      <p:sp>
        <p:nvSpPr>
          <p:cNvPr id="24" name="Pentagon 23"/>
          <p:cNvSpPr/>
          <p:nvPr/>
        </p:nvSpPr>
        <p:spPr>
          <a:xfrm>
            <a:off x="9157716" y="2834640"/>
            <a:ext cx="2775204" cy="219456"/>
          </a:xfrm>
          <a:prstGeom prst="homePlate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137160" bIns="0"/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1F3864"/>
                </a:solidFill>
                <a:latin typeface="微软雅黑"/>
                <a:ea typeface="微软雅黑"/>
              </a:rPr>
              <a:t>服务对象：</a:t>
            </a:r>
            <a:r>
              <a:rPr sz="800" b="0" i="0">
                <a:solidFill>
                  <a:srgbClr val="1F3864"/>
                </a:solidFill>
                <a:latin typeface="微软雅黑"/>
                <a:ea typeface="微软雅黑"/>
              </a:rPr>
              <a:t>程序员  →  知识工作者  →  所有人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3154680"/>
            <a:ext cx="5623560" cy="23774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txBody>
          <a:bodyPr rtlCol="0" anchor="ctr" wrap="square" lIns="73152" tIns="18288" rIns="36576" bIns="18288"/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</a:rPr>
              <a:t>② 通用智能体架构：</a:t>
            </a:r>
            <a:r>
              <a:rPr sz="1000" b="0" i="0">
                <a:solidFill>
                  <a:srgbClr val="FFFFFF"/>
                </a:solidFill>
                <a:latin typeface="微软雅黑"/>
                <a:ea typeface="微软雅黑"/>
              </a:rPr>
              <a:t>代码是贯穿各层的执行主线（左：如何实现  右：覆盖谁）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3611880"/>
            <a:ext cx="3429000" cy="502920"/>
          </a:xfrm>
          <a:prstGeom prst="rect">
            <a:avLst/>
          </a:prstGeom>
          <a:solidFill>
            <a:srgbClr val="EEF3FA"/>
          </a:solidFill>
          <a:ln w="6350">
            <a:solidFill>
              <a:srgbClr val="DEEBF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3611880"/>
            <a:ext cx="868680" cy="502920"/>
          </a:xfrm>
          <a:prstGeom prst="rect">
            <a:avLst/>
          </a:prstGeom>
          <a:noFill/>
        </p:spPr>
        <p:txBody>
          <a:bodyPr wrap="square" anchor="ctr" lIns="18288" tIns="0" rIns="18288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F3864"/>
                </a:solidFill>
                <a:latin typeface="微软雅黑"/>
                <a:ea typeface="微软雅黑"/>
              </a:rPr>
              <a:t>自适应交互层</a:t>
            </a:r>
          </a:p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1F3864"/>
                </a:solidFill>
                <a:latin typeface="微软雅黑"/>
                <a:ea typeface="微软雅黑"/>
              </a:rPr>
              <a:t>薄 · 持续趋简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23760" y="3657600"/>
            <a:ext cx="544067" cy="2743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6350">
            <a:solidFill>
              <a:srgbClr val="9DC3E6"/>
            </a:solidFill>
          </a:ln>
          <a:effectLst/>
        </p:spPr>
        <p:txBody>
          <a:bodyPr rtlCol="0" anchor="ctr" wrap="square" lIns="18288" tIns="0" rIns="18288" bIns="0"/>
          <a:lstStyle/>
          <a:p>
            <a:pPr algn="ctr">
              <a:lnSpc>
                <a:spcPct val="95000"/>
              </a:lnSpc>
            </a:pPr>
            <a:r>
              <a:rPr sz="700" b="1" i="0">
                <a:solidFill>
                  <a:srgbClr val="1F3864"/>
                </a:solidFill>
                <a:latin typeface="微软雅黑"/>
                <a:ea typeface="微软雅黑"/>
              </a:rPr>
              <a:t>程序员</a:t>
            </a:r>
          </a:p>
          <a:p>
            <a:pPr algn="ctr">
              <a:lnSpc>
                <a:spcPct val="95000"/>
              </a:lnSpc>
            </a:pPr>
            <a:r>
              <a:rPr sz="650" b="0" i="0">
                <a:solidFill>
                  <a:srgbClr val="595959"/>
                </a:solidFill>
                <a:latin typeface="微软雅黑"/>
                <a:ea typeface="微软雅黑"/>
              </a:rPr>
              <a:t>开发环境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813548" y="3657600"/>
            <a:ext cx="544067" cy="2743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6350">
            <a:solidFill>
              <a:srgbClr val="9DC3E6"/>
            </a:solidFill>
          </a:ln>
          <a:effectLst/>
        </p:spPr>
        <p:txBody>
          <a:bodyPr rtlCol="0" anchor="ctr" wrap="square" lIns="18288" tIns="0" rIns="18288" bIns="0"/>
          <a:lstStyle/>
          <a:p>
            <a:pPr algn="ctr">
              <a:lnSpc>
                <a:spcPct val="95000"/>
              </a:lnSpc>
            </a:pPr>
            <a:r>
              <a:rPr sz="700" b="1" i="0">
                <a:solidFill>
                  <a:srgbClr val="1F3864"/>
                </a:solidFill>
                <a:latin typeface="微软雅黑"/>
                <a:ea typeface="微软雅黑"/>
              </a:rPr>
              <a:t>销售</a:t>
            </a:r>
          </a:p>
          <a:p>
            <a:pPr algn="ctr">
              <a:lnSpc>
                <a:spcPct val="95000"/>
              </a:lnSpc>
            </a:pPr>
            <a:r>
              <a:rPr sz="650" b="0" i="0">
                <a:solidFill>
                  <a:srgbClr val="595959"/>
                </a:solidFill>
                <a:latin typeface="微软雅黑"/>
                <a:ea typeface="微软雅黑"/>
              </a:rPr>
              <a:t>客户仪表盘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403336" y="3657600"/>
            <a:ext cx="544067" cy="2743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6350">
            <a:solidFill>
              <a:srgbClr val="9DC3E6"/>
            </a:solidFill>
          </a:ln>
          <a:effectLst/>
        </p:spPr>
        <p:txBody>
          <a:bodyPr rtlCol="0" anchor="ctr" wrap="square" lIns="18288" tIns="0" rIns="18288" bIns="0"/>
          <a:lstStyle/>
          <a:p>
            <a:pPr algn="ctr">
              <a:lnSpc>
                <a:spcPct val="95000"/>
              </a:lnSpc>
            </a:pPr>
            <a:r>
              <a:rPr sz="700" b="1" i="0">
                <a:solidFill>
                  <a:srgbClr val="1F3864"/>
                </a:solidFill>
                <a:latin typeface="微软雅黑"/>
                <a:ea typeface="微软雅黑"/>
              </a:rPr>
              <a:t>普通用户</a:t>
            </a:r>
          </a:p>
          <a:p>
            <a:pPr algn="ctr">
              <a:lnSpc>
                <a:spcPct val="95000"/>
              </a:lnSpc>
            </a:pPr>
            <a:r>
              <a:rPr sz="650" b="0" i="0">
                <a:solidFill>
                  <a:srgbClr val="595959"/>
                </a:solidFill>
                <a:latin typeface="微软雅黑"/>
                <a:ea typeface="微软雅黑"/>
              </a:rPr>
              <a:t>对话框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93124" y="3657600"/>
            <a:ext cx="544067" cy="2743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6350">
            <a:solidFill>
              <a:srgbClr val="9DC3E6"/>
            </a:solidFill>
          </a:ln>
          <a:effectLst/>
        </p:spPr>
        <p:txBody>
          <a:bodyPr rtlCol="0" anchor="ctr" wrap="square" lIns="18288" tIns="0" rIns="18288" bIns="0"/>
          <a:lstStyle/>
          <a:p>
            <a:pPr algn="ctr">
              <a:lnSpc>
                <a:spcPct val="95000"/>
              </a:lnSpc>
            </a:pPr>
            <a:r>
              <a:rPr sz="700" b="1" i="0">
                <a:solidFill>
                  <a:srgbClr val="1F3864"/>
                </a:solidFill>
                <a:latin typeface="微软雅黑"/>
                <a:ea typeface="微软雅黑"/>
              </a:rPr>
              <a:t>语音</a:t>
            </a:r>
          </a:p>
          <a:p>
            <a:pPr algn="ctr">
              <a:lnSpc>
                <a:spcPct val="95000"/>
              </a:lnSpc>
            </a:pPr>
            <a:r>
              <a:rPr sz="650" b="0" i="0">
                <a:solidFill>
                  <a:srgbClr val="595959"/>
                </a:solidFill>
                <a:latin typeface="微软雅黑"/>
                <a:ea typeface="微软雅黑"/>
              </a:rPr>
              <a:t>随口即说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23760" y="3941064"/>
            <a:ext cx="2359151" cy="155448"/>
          </a:xfrm>
          <a:prstGeom prst="rect">
            <a:avLst/>
          </a:prstGeom>
          <a:noFill/>
        </p:spPr>
        <p:txBody>
          <a:bodyPr wrap="square" anchor="ctr" lIns="18288" tIns="0" rIns="18288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595959"/>
                </a:solidFill>
                <a:latin typeface="微软雅黑"/>
                <a:ea typeface="微软雅黑"/>
              </a:rPr>
              <a:t>按身份 · 所连接的工具 · 权限，自动呈现差异化界面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0" y="4160520"/>
            <a:ext cx="3429000" cy="512064"/>
          </a:xfrm>
          <a:prstGeom prst="rect">
            <a:avLst/>
          </a:prstGeom>
          <a:solidFill>
            <a:srgbClr val="DEEBF7"/>
          </a:solidFill>
          <a:ln w="6350">
            <a:solidFill>
              <a:srgbClr val="9DC3E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55080" y="4160520"/>
            <a:ext cx="868680" cy="512064"/>
          </a:xfrm>
          <a:prstGeom prst="rect">
            <a:avLst/>
          </a:prstGeom>
          <a:noFill/>
        </p:spPr>
        <p:txBody>
          <a:bodyPr wrap="square" anchor="ctr" lIns="18288" tIns="0" rIns="18288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F3864"/>
                </a:solidFill>
                <a:latin typeface="微软雅黑"/>
                <a:ea typeface="微软雅黑"/>
              </a:rPr>
              <a:t>统一 Agent</a:t>
            </a:r>
          </a:p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F3864"/>
                </a:solidFill>
                <a:latin typeface="微软雅黑"/>
                <a:ea typeface="微软雅黑"/>
              </a:rPr>
              <a:t>Harness</a:t>
            </a:r>
          </a:p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1F3864"/>
                </a:solidFill>
                <a:latin typeface="微软雅黑"/>
                <a:ea typeface="微软雅黑"/>
              </a:rPr>
              <a:t>用户不介入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23760" y="4160520"/>
            <a:ext cx="2359151" cy="512064"/>
          </a:xfrm>
          <a:prstGeom prst="rect">
            <a:avLst/>
          </a:prstGeom>
          <a:noFill/>
        </p:spPr>
        <p:txBody>
          <a:bodyPr wrap="square" anchor="ctr" lIns="18288" tIns="0" rIns="18288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1" i="0">
                <a:solidFill>
                  <a:srgbClr val="1F3864"/>
                </a:solidFill>
                <a:latin typeface="微软雅黑"/>
                <a:ea typeface="微软雅黑"/>
              </a:rPr>
              <a:t>记忆 · Skills · 子 Agent —— 由模型自主管理与调度</a:t>
            </a:r>
          </a:p>
          <a:p>
            <a:pPr algn="l">
              <a:lnSpc>
                <a:spcPct val="105000"/>
              </a:lnSpc>
            </a:pPr>
            <a:r>
              <a:rPr sz="700" b="0" i="0">
                <a:solidFill>
                  <a:srgbClr val="595959"/>
                </a:solidFill>
                <a:latin typeface="微软雅黑"/>
                <a:ea typeface="微软雅黑"/>
              </a:rPr>
              <a:t>手动维护 Skills / 记忆 / 子 Agent 只是“早期笨拙形态”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09360" y="4718304"/>
            <a:ext cx="3429000" cy="621792"/>
          </a:xfrm>
          <a:prstGeom prst="rect">
            <a:avLst/>
          </a:prstGeom>
          <a:solidFill>
            <a:srgbClr val="2E75B6"/>
          </a:solidFill>
          <a:ln w="6350">
            <a:solidFill>
              <a:srgbClr val="2E75B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55080" y="4718304"/>
            <a:ext cx="868680" cy="621792"/>
          </a:xfrm>
          <a:prstGeom prst="rect">
            <a:avLst/>
          </a:prstGeom>
          <a:noFill/>
        </p:spPr>
        <p:txBody>
          <a:bodyPr wrap="square" anchor="ctr" lIns="18288" tIns="0" rIns="18288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FFFFFF"/>
                </a:solidFill>
                <a:latin typeface="微软雅黑"/>
                <a:ea typeface="微软雅黑"/>
              </a:rPr>
              <a:t>模型原生能力</a:t>
            </a:r>
          </a:p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FFFFFF"/>
                </a:solidFill>
                <a:latin typeface="微软雅黑"/>
                <a:ea typeface="微软雅黑"/>
              </a:rPr>
              <a:t>同一套底层 AI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223760" y="4791456"/>
            <a:ext cx="393192" cy="21945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none" lIns="0" tIns="0" rIns="0" bIns="0"/>
          <a:lstStyle/>
          <a:p>
            <a:pPr algn="ctr">
              <a:lnSpc>
                <a:spcPct val="100000"/>
              </a:lnSpc>
            </a:pPr>
            <a:r>
              <a:rPr sz="700" b="0" i="0">
                <a:solidFill>
                  <a:srgbClr val="2E75B6"/>
                </a:solidFill>
                <a:latin typeface="微软雅黑"/>
                <a:ea typeface="微软雅黑"/>
              </a:rPr>
              <a:t>搜索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648956" y="4791456"/>
            <a:ext cx="393192" cy="21945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none" lIns="0" tIns="0" rIns="0" bIns="0"/>
          <a:lstStyle/>
          <a:p>
            <a:pPr algn="ctr">
              <a:lnSpc>
                <a:spcPct val="100000"/>
              </a:lnSpc>
            </a:pPr>
            <a:r>
              <a:rPr sz="700" b="0" i="0">
                <a:solidFill>
                  <a:srgbClr val="2E75B6"/>
                </a:solidFill>
                <a:latin typeface="微软雅黑"/>
                <a:ea typeface="微软雅黑"/>
              </a:rPr>
              <a:t>调研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74152" y="4791456"/>
            <a:ext cx="393192" cy="21945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none" lIns="0" tIns="0" rIns="0" bIns="0"/>
          <a:lstStyle/>
          <a:p>
            <a:pPr algn="ctr">
              <a:lnSpc>
                <a:spcPct val="100000"/>
              </a:lnSpc>
            </a:pPr>
            <a:r>
              <a:rPr sz="700" b="0" i="0">
                <a:solidFill>
                  <a:srgbClr val="2E75B6"/>
                </a:solidFill>
                <a:latin typeface="微软雅黑"/>
                <a:ea typeface="微软雅黑"/>
              </a:rPr>
              <a:t>工具调用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499348" y="4791456"/>
            <a:ext cx="393192" cy="21945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none" lIns="0" tIns="0" rIns="0" bIns="0"/>
          <a:lstStyle/>
          <a:p>
            <a:pPr algn="ctr">
              <a:lnSpc>
                <a:spcPct val="100000"/>
              </a:lnSpc>
            </a:pPr>
            <a:r>
              <a:rPr sz="700" b="0" i="0">
                <a:solidFill>
                  <a:srgbClr val="2E75B6"/>
                </a:solidFill>
                <a:latin typeface="微软雅黑"/>
                <a:ea typeface="微软雅黑"/>
              </a:rPr>
              <a:t>语音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924544" y="4791456"/>
            <a:ext cx="393192" cy="21945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none" lIns="0" tIns="0" rIns="0" bIns="0"/>
          <a:lstStyle/>
          <a:p>
            <a:pPr algn="ctr">
              <a:lnSpc>
                <a:spcPct val="100000"/>
              </a:lnSpc>
            </a:pPr>
            <a:r>
              <a:rPr sz="700" b="0" i="0">
                <a:solidFill>
                  <a:srgbClr val="2E75B6"/>
                </a:solidFill>
                <a:latin typeface="微软雅黑"/>
                <a:ea typeface="微软雅黑"/>
              </a:rPr>
              <a:t>视觉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49740" y="4773168"/>
            <a:ext cx="333756" cy="256032"/>
          </a:xfrm>
          <a:prstGeom prst="roundRect">
            <a:avLst>
              <a:gd name="adj" fmla="val 18000"/>
            </a:avLst>
          </a:prstGeom>
          <a:solidFill>
            <a:srgbClr val="E86A1E"/>
          </a:solidFill>
          <a:ln w="12700">
            <a:solidFill>
              <a:srgbClr val="FFFFFF"/>
            </a:solidFill>
          </a:ln>
          <a:effectLst/>
        </p:spPr>
        <p:txBody>
          <a:bodyPr rtlCol="0" anchor="ctr" wrap="square" lIns="9144" tIns="0" rIns="9144" bIns="0"/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FFFFFF"/>
                </a:solidFill>
                <a:latin typeface="微软雅黑"/>
                <a:ea typeface="微软雅黑"/>
              </a:rPr>
              <a:t>编程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23760" y="5065776"/>
            <a:ext cx="2450591" cy="237744"/>
          </a:xfrm>
          <a:prstGeom prst="rect">
            <a:avLst/>
          </a:prstGeom>
          <a:noFill/>
        </p:spPr>
        <p:txBody>
          <a:bodyPr wrap="square" anchor="ctr" lIns="18288" tIns="0" rIns="18288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FFC08A"/>
                </a:solidFill>
                <a:latin typeface="微软雅黑"/>
                <a:ea typeface="微软雅黑"/>
              </a:rPr>
              <a:t>编程 = 执行层：</a:t>
            </a:r>
            <a:r>
              <a:rPr sz="700" b="0" i="0">
                <a:solidFill>
                  <a:srgbClr val="FFFFFF"/>
                </a:solidFill>
                <a:latin typeface="微软雅黑"/>
                <a:ea typeface="微软雅黑"/>
              </a:rPr>
              <a:t>后台自动生成并运行脚本，用户无感调用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09360" y="5385816"/>
            <a:ext cx="3429000" cy="621792"/>
          </a:xfrm>
          <a:prstGeom prst="rect">
            <a:avLst/>
          </a:prstGeom>
          <a:solidFill>
            <a:srgbClr val="1F3864"/>
          </a:solidFill>
          <a:ln w="6350">
            <a:solidFill>
              <a:srgbClr val="1F386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55080" y="5385816"/>
            <a:ext cx="868680" cy="621792"/>
          </a:xfrm>
          <a:prstGeom prst="rect">
            <a:avLst/>
          </a:prstGeom>
          <a:noFill/>
        </p:spPr>
        <p:txBody>
          <a:bodyPr wrap="square" anchor="ctr" lIns="18288" tIns="0" rIns="18288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FFFFFF"/>
                </a:solidFill>
                <a:latin typeface="微软雅黑"/>
                <a:ea typeface="微软雅黑"/>
              </a:rPr>
              <a:t>云端算力集群</a:t>
            </a:r>
          </a:p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FFFFFF"/>
                </a:solidFill>
                <a:latin typeface="微软雅黑"/>
                <a:ea typeface="微软雅黑"/>
              </a:rPr>
              <a:t>厚 · 复杂性下沉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23760" y="5385816"/>
            <a:ext cx="2450591" cy="621792"/>
          </a:xfrm>
          <a:prstGeom prst="rect">
            <a:avLst/>
          </a:prstGeom>
          <a:noFill/>
        </p:spPr>
        <p:txBody>
          <a:bodyPr wrap="square" anchor="ctr" lIns="18288" tIns="0" rIns="18288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1" i="0">
                <a:solidFill>
                  <a:srgbClr val="FFFFFF"/>
                </a:solidFill>
                <a:latin typeface="微软雅黑"/>
                <a:ea typeface="微软雅黑"/>
              </a:rPr>
              <a:t>并发 100 个应用 · 并行探索 / 测试 / 验证</a:t>
            </a:r>
          </a:p>
          <a:p>
            <a:pPr algn="l">
              <a:lnSpc>
                <a:spcPct val="105000"/>
              </a:lnSpc>
            </a:pPr>
            <a:r>
              <a:rPr sz="700" b="0" i="0">
                <a:solidFill>
                  <a:srgbClr val="FFFFFF"/>
                </a:solidFill>
                <a:latin typeface="微软雅黑"/>
                <a:ea typeface="微软雅黑"/>
              </a:rPr>
              <a:t>笔记本按人类速度设计成为瓶颈 → 终端是入口，执行在云端</a:t>
            </a:r>
          </a:p>
          <a:p>
            <a:pPr algn="l">
              <a:lnSpc>
                <a:spcPct val="105000"/>
              </a:lnSpc>
            </a:pPr>
            <a:r>
              <a:rPr sz="700" b="0" i="0">
                <a:solidFill>
                  <a:srgbClr val="FFC08A"/>
                </a:solidFill>
                <a:latin typeface="微软雅黑"/>
                <a:ea typeface="微软雅黑"/>
              </a:rPr>
              <a:t>递归自我改进：模型用代码重写推理栈，成本降约 80%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619488" y="3520440"/>
            <a:ext cx="36576" cy="1252727"/>
          </a:xfrm>
          <a:prstGeom prst="rect">
            <a:avLst/>
          </a:prstGeom>
          <a:solidFill>
            <a:srgbClr val="E86A1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7955280" y="3374136"/>
            <a:ext cx="1783080" cy="18288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E86A1E"/>
            </a:solidFill>
          </a:ln>
          <a:effectLst/>
        </p:spPr>
        <p:txBody>
          <a:bodyPr rtlCol="0" anchor="ctr" wrap="square" lIns="18288" tIns="0" rIns="18288" bIns="0"/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E86A1E"/>
                </a:solidFill>
                <a:latin typeface="微软雅黑"/>
                <a:ea typeface="微软雅黑"/>
              </a:rPr>
              <a:t>代码 = AI 操作数字世界的机器语言</a:t>
            </a:r>
          </a:p>
        </p:txBody>
      </p:sp>
      <p:cxnSp>
        <p:nvCxnSpPr>
          <p:cNvPr id="50" name="Connector 49"/>
          <p:cNvCxnSpPr/>
          <p:nvPr/>
        </p:nvCxnSpPr>
        <p:spPr>
          <a:xfrm flipV="1">
            <a:off x="9820656" y="3657600"/>
            <a:ext cx="0" cy="2304288"/>
          </a:xfrm>
          <a:prstGeom prst="line">
            <a:avLst/>
          </a:prstGeom>
          <a:ln w="19050">
            <a:solidFill>
              <a:srgbClr val="E86A1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 rot="16200000">
            <a:off x="9015984" y="4718304"/>
            <a:ext cx="1737360" cy="182880"/>
          </a:xfrm>
          <a:prstGeom prst="rect">
            <a:avLst/>
          </a:prstGeom>
          <a:noFill/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E86A1E"/>
                </a:solidFill>
                <a:latin typeface="微软雅黑"/>
                <a:ea typeface="微软雅黑"/>
              </a:rPr>
              <a:t>模型越强  →  用户介入越少</a:t>
            </a:r>
          </a:p>
        </p:txBody>
      </p:sp>
      <p:sp>
        <p:nvSpPr>
          <p:cNvPr id="52" name="Oval 51"/>
          <p:cNvSpPr/>
          <p:nvPr/>
        </p:nvSpPr>
        <p:spPr>
          <a:xfrm>
            <a:off x="10058400" y="3630168"/>
            <a:ext cx="1828800" cy="1828800"/>
          </a:xfrm>
          <a:prstGeom prst="ellipse">
            <a:avLst/>
          </a:prstGeom>
          <a:solidFill>
            <a:srgbClr val="EEF3FA"/>
          </a:solidFill>
          <a:ln w="6350">
            <a:solidFill>
              <a:srgbClr val="DEEBF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058400" y="3666744"/>
            <a:ext cx="1828800" cy="274320"/>
          </a:xfrm>
          <a:prstGeom prst="rect">
            <a:avLst/>
          </a:prstGeom>
          <a:noFill/>
        </p:spPr>
        <p:txBody>
          <a:bodyPr wrap="square" anchor="t" lIns="18288" tIns="0" rIns="18288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750" b="1" i="0">
                <a:solidFill>
                  <a:srgbClr val="1F3864"/>
                </a:solidFill>
                <a:latin typeface="微软雅黑"/>
                <a:ea typeface="微软雅黑"/>
              </a:rPr>
              <a:t>所有人</a:t>
            </a:r>
          </a:p>
          <a:p>
            <a:pPr algn="ctr">
              <a:lnSpc>
                <a:spcPct val="95000"/>
              </a:lnSpc>
            </a:pPr>
            <a:r>
              <a:rPr sz="650" b="0" i="0">
                <a:solidFill>
                  <a:srgbClr val="595959"/>
                </a:solidFill>
                <a:latin typeface="微软雅黑"/>
                <a:ea typeface="微软雅黑"/>
              </a:rPr>
              <a:t>对话 / 语音，无感调用</a:t>
            </a:r>
          </a:p>
        </p:txBody>
      </p:sp>
      <p:sp>
        <p:nvSpPr>
          <p:cNvPr id="54" name="Oval 53"/>
          <p:cNvSpPr/>
          <p:nvPr/>
        </p:nvSpPr>
        <p:spPr>
          <a:xfrm>
            <a:off x="10287000" y="3858768"/>
            <a:ext cx="1371600" cy="1371600"/>
          </a:xfrm>
          <a:prstGeom prst="ellipse">
            <a:avLst/>
          </a:prstGeom>
          <a:solidFill>
            <a:srgbClr val="DEEBF7"/>
          </a:solidFill>
          <a:ln w="6350">
            <a:solidFill>
              <a:srgbClr val="9DC3E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287000" y="3895344"/>
            <a:ext cx="1371600" cy="274320"/>
          </a:xfrm>
          <a:prstGeom prst="rect">
            <a:avLst/>
          </a:prstGeom>
          <a:noFill/>
        </p:spPr>
        <p:txBody>
          <a:bodyPr wrap="square" anchor="t" lIns="18288" tIns="0" rIns="18288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750" b="1" i="0">
                <a:solidFill>
                  <a:srgbClr val="1F3864"/>
                </a:solidFill>
                <a:latin typeface="微软雅黑"/>
                <a:ea typeface="微软雅黑"/>
              </a:rPr>
              <a:t>知识工作者</a:t>
            </a:r>
          </a:p>
          <a:p>
            <a:pPr algn="ctr">
              <a:lnSpc>
                <a:spcPct val="95000"/>
              </a:lnSpc>
            </a:pPr>
            <a:r>
              <a:rPr sz="650" b="0" i="0">
                <a:solidFill>
                  <a:srgbClr val="595959"/>
                </a:solidFill>
                <a:latin typeface="微软雅黑"/>
                <a:ea typeface="微软雅黑"/>
              </a:rPr>
              <a:t>产品 · 设计 · 销售 · 财务</a:t>
            </a:r>
          </a:p>
        </p:txBody>
      </p:sp>
      <p:sp>
        <p:nvSpPr>
          <p:cNvPr id="56" name="Oval 55"/>
          <p:cNvSpPr/>
          <p:nvPr/>
        </p:nvSpPr>
        <p:spPr>
          <a:xfrm>
            <a:off x="10515600" y="4087368"/>
            <a:ext cx="914400" cy="914400"/>
          </a:xfrm>
          <a:prstGeom prst="ellipse">
            <a:avLst/>
          </a:prstGeom>
          <a:solidFill>
            <a:srgbClr val="9DC3E6"/>
          </a:solidFill>
          <a:ln w="6350">
            <a:solidFill>
              <a:srgbClr val="2E75B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515600" y="4123944"/>
            <a:ext cx="914400" cy="274320"/>
          </a:xfrm>
          <a:prstGeom prst="rect">
            <a:avLst/>
          </a:prstGeom>
          <a:noFill/>
        </p:spPr>
        <p:txBody>
          <a:bodyPr wrap="square" anchor="t" lIns="18288" tIns="0" rIns="18288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750" b="1" i="0">
                <a:solidFill>
                  <a:srgbClr val="1F3864"/>
                </a:solidFill>
                <a:latin typeface="微软雅黑"/>
                <a:ea typeface="微软雅黑"/>
              </a:rPr>
              <a:t>程序员</a:t>
            </a:r>
          </a:p>
          <a:p>
            <a:pPr algn="ctr">
              <a:lnSpc>
                <a:spcPct val="95000"/>
              </a:lnSpc>
            </a:pPr>
            <a:r>
              <a:rPr sz="650" b="0" i="0">
                <a:solidFill>
                  <a:srgbClr val="595959"/>
                </a:solidFill>
                <a:latin typeface="微软雅黑"/>
                <a:ea typeface="微软雅黑"/>
              </a:rPr>
              <a:t>首批体验群体</a:t>
            </a:r>
          </a:p>
        </p:txBody>
      </p:sp>
      <p:sp>
        <p:nvSpPr>
          <p:cNvPr id="58" name="Oval 57"/>
          <p:cNvSpPr/>
          <p:nvPr/>
        </p:nvSpPr>
        <p:spPr>
          <a:xfrm>
            <a:off x="10744200" y="4370831"/>
            <a:ext cx="457200" cy="457200"/>
          </a:xfrm>
          <a:prstGeom prst="ellipse">
            <a:avLst/>
          </a:prstGeom>
          <a:solidFill>
            <a:srgbClr val="E86A1E"/>
          </a:solidFill>
          <a:ln>
            <a:noFill/>
          </a:ln>
          <a:effectLst/>
        </p:spPr>
        <p:txBody>
          <a:bodyPr rtlCol="0" anchor="ctr" wrap="square" lIns="0" tIns="0" rIns="0" bIns="0"/>
          <a:lstStyle/>
          <a:p>
            <a:pPr algn="ctr">
              <a:lnSpc>
                <a:spcPct val="90000"/>
              </a:lnSpc>
            </a:pPr>
            <a:r>
              <a:rPr sz="750" b="1" i="0">
                <a:solidFill>
                  <a:srgbClr val="FFFFFF"/>
                </a:solidFill>
                <a:latin typeface="微软雅黑"/>
                <a:ea typeface="微软雅黑"/>
              </a:rPr>
              <a:t>代码</a:t>
            </a:r>
          </a:p>
          <a:p>
            <a:pPr algn="ctr">
              <a:lnSpc>
                <a:spcPct val="90000"/>
              </a:lnSpc>
            </a:pPr>
            <a:r>
              <a:rPr sz="750" b="1" i="0">
                <a:solidFill>
                  <a:srgbClr val="FFFFFF"/>
                </a:solidFill>
                <a:latin typeface="微软雅黑"/>
                <a:ea typeface="微软雅黑"/>
              </a:rPr>
              <a:t>能力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921240" y="3438144"/>
            <a:ext cx="2103120" cy="164592"/>
          </a:xfrm>
          <a:prstGeom prst="rect">
            <a:avLst/>
          </a:prstGeom>
          <a:noFill/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1F3864"/>
                </a:solidFill>
                <a:latin typeface="微软雅黑"/>
                <a:ea typeface="微软雅黑"/>
              </a:rPr>
              <a:t>能力扩散圈：程序员 → 知识工作者 → 所有人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012680" y="5504688"/>
            <a:ext cx="1920239" cy="5029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73152" tIns="18288" rIns="54864" bIns="18288"/>
          <a:lstStyle/>
          <a:p>
            <a:pPr algn="l">
              <a:lnSpc>
                <a:spcPct val="100000"/>
              </a:lnSpc>
            </a:pPr>
            <a:r>
              <a:rPr sz="700" b="0" i="1">
                <a:solidFill>
                  <a:srgbClr val="262626"/>
                </a:solidFill>
                <a:latin typeface="微软雅黑"/>
                <a:ea typeface="微软雅黑"/>
              </a:rPr>
              <a:t>“代码将成为 AI 操作数字世界的底层机器语言，程序员只是最早的体验群体。”</a:t>
            </a:r>
          </a:p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595959"/>
                </a:solidFill>
                <a:latin typeface="微软雅黑"/>
                <a:ea typeface="微软雅黑"/>
              </a:rPr>
              <a:t>—— Tibo Sottiaux，OpenAI Codex 负责人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012680" y="5504688"/>
            <a:ext cx="36576" cy="502920"/>
          </a:xfrm>
          <a:prstGeom prst="rect">
            <a:avLst/>
          </a:prstGeom>
          <a:solidFill>
            <a:srgbClr val="E86A1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6309360" y="6089904"/>
            <a:ext cx="1351026" cy="42062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309360" y="6089904"/>
            <a:ext cx="54864" cy="420624"/>
          </a:xfrm>
          <a:prstGeom prst="rect">
            <a:avLst/>
          </a:prstGeom>
          <a:solidFill>
            <a:srgbClr val="E86A1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400800" y="6108192"/>
            <a:ext cx="1223010" cy="384048"/>
          </a:xfrm>
          <a:prstGeom prst="rect">
            <a:avLst/>
          </a:prstGeom>
          <a:noFill/>
        </p:spPr>
        <p:txBody>
          <a:bodyPr wrap="square" anchor="ctr" lIns="18288" tIns="0" rIns="18288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E86A1E"/>
                </a:solidFill>
                <a:latin typeface="微软雅黑"/>
                <a:ea typeface="微软雅黑"/>
              </a:rPr>
              <a:t>1  </a:t>
            </a:r>
            <a:r>
              <a:rPr sz="850" b="1" i="0">
                <a:solidFill>
                  <a:srgbClr val="1F3864"/>
                </a:solidFill>
                <a:latin typeface="微软雅黑"/>
                <a:ea typeface="微软雅黑"/>
              </a:rPr>
              <a:t>终局</a:t>
            </a:r>
          </a:p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595959"/>
                </a:solidFill>
                <a:latin typeface="微软雅黑"/>
                <a:ea typeface="微软雅黑"/>
              </a:rPr>
              <a:t>一个个人 AGI，不是多个垂直 App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733538" y="6089904"/>
            <a:ext cx="1351026" cy="42062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733538" y="6089904"/>
            <a:ext cx="54864" cy="420624"/>
          </a:xfrm>
          <a:prstGeom prst="rect">
            <a:avLst/>
          </a:prstGeom>
          <a:solidFill>
            <a:srgbClr val="E86A1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824977" y="6108192"/>
            <a:ext cx="1223010" cy="384048"/>
          </a:xfrm>
          <a:prstGeom prst="rect">
            <a:avLst/>
          </a:prstGeom>
          <a:noFill/>
        </p:spPr>
        <p:txBody>
          <a:bodyPr wrap="square" anchor="ctr" lIns="18288" tIns="0" rIns="18288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E86A1E"/>
                </a:solidFill>
                <a:latin typeface="微软雅黑"/>
                <a:ea typeface="微软雅黑"/>
              </a:rPr>
              <a:t>2  </a:t>
            </a:r>
            <a:r>
              <a:rPr sz="850" b="1" i="0">
                <a:solidFill>
                  <a:srgbClr val="1F3864"/>
                </a:solidFill>
                <a:latin typeface="微软雅黑"/>
                <a:ea typeface="微软雅黑"/>
              </a:rPr>
              <a:t>复杂性下沉</a:t>
            </a:r>
          </a:p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595959"/>
                </a:solidFill>
                <a:latin typeface="微软雅黑"/>
                <a:ea typeface="微软雅黑"/>
              </a:rPr>
              <a:t>Skills / 记忆 / 子 Agent 由模型自管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9157716" y="6089904"/>
            <a:ext cx="1351026" cy="42062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157716" y="6089904"/>
            <a:ext cx="54864" cy="420624"/>
          </a:xfrm>
          <a:prstGeom prst="rect">
            <a:avLst/>
          </a:prstGeom>
          <a:solidFill>
            <a:srgbClr val="E86A1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249156" y="6108192"/>
            <a:ext cx="1223010" cy="384048"/>
          </a:xfrm>
          <a:prstGeom prst="rect">
            <a:avLst/>
          </a:prstGeom>
          <a:noFill/>
        </p:spPr>
        <p:txBody>
          <a:bodyPr wrap="square" anchor="ctr" lIns="18288" tIns="0" rIns="18288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E86A1E"/>
                </a:solidFill>
                <a:latin typeface="微软雅黑"/>
                <a:ea typeface="微软雅黑"/>
              </a:rPr>
              <a:t>3  </a:t>
            </a:r>
            <a:r>
              <a:rPr sz="850" b="1" i="0">
                <a:solidFill>
                  <a:srgbClr val="1F3864"/>
                </a:solidFill>
                <a:latin typeface="微软雅黑"/>
                <a:ea typeface="微软雅黑"/>
              </a:rPr>
              <a:t>执行上云</a:t>
            </a:r>
          </a:p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595959"/>
                </a:solidFill>
                <a:latin typeface="微软雅黑"/>
                <a:ea typeface="微软雅黑"/>
              </a:rPr>
              <a:t>终端是入口，云端是算力团队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10581894" y="6089904"/>
            <a:ext cx="1351026" cy="42062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0581894" y="6089904"/>
            <a:ext cx="54864" cy="420624"/>
          </a:xfrm>
          <a:prstGeom prst="rect">
            <a:avLst/>
          </a:prstGeom>
          <a:solidFill>
            <a:srgbClr val="E86A1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0673334" y="6108192"/>
            <a:ext cx="1223010" cy="384048"/>
          </a:xfrm>
          <a:prstGeom prst="rect">
            <a:avLst/>
          </a:prstGeom>
          <a:noFill/>
        </p:spPr>
        <p:txBody>
          <a:bodyPr wrap="square" anchor="ctr" lIns="18288" tIns="0" rIns="18288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E86A1E"/>
                </a:solidFill>
                <a:latin typeface="微软雅黑"/>
                <a:ea typeface="微软雅黑"/>
              </a:rPr>
              <a:t>4  </a:t>
            </a:r>
            <a:r>
              <a:rPr sz="850" b="1" i="0">
                <a:solidFill>
                  <a:srgbClr val="1F3864"/>
                </a:solidFill>
                <a:latin typeface="微软雅黑"/>
                <a:ea typeface="微软雅黑"/>
              </a:rPr>
              <a:t>代码是机器语言</a:t>
            </a:r>
          </a:p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595959"/>
                </a:solidFill>
                <a:latin typeface="微软雅黑"/>
                <a:ea typeface="微软雅黑"/>
              </a:rPr>
              <a:t>Coding Agent 服务的远不止编程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