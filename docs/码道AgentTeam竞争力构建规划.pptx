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38544"/>
            <a:ext cx="12191695" cy="219456"/>
          </a:xfrm>
          <a:prstGeom prst="rect">
            <a:avLst/>
          </a:prstGeom>
          <a:solidFill>
            <a:srgbClr val="142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92608" y="146304"/>
            <a:ext cx="9692640" cy="34747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2400" b="1">
                <a:solidFill>
                  <a:srgbClr val="14233D"/>
                </a:solidFill>
                <a:latin typeface="微软雅黑"/>
                <a:ea typeface="微软雅黑"/>
                <a:cs typeface="微软雅黑"/>
              </a:rPr>
              <a:t>Agent Team 竞争力构建规划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92608" y="475488"/>
            <a:ext cx="11521440" cy="25603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200" b="0">
                <a:solidFill>
                  <a:srgbClr val="5B6573"/>
                </a:solidFill>
                <a:latin typeface="微软雅黑"/>
                <a:ea typeface="微软雅黑"/>
                <a:cs typeface="微软雅黑"/>
              </a:rPr>
              <a:t>以统一入口驱动专家资产化、编排标准化与执行拓扑自主化，将协作引擎升级为可规模交付的研发作业体系</a:t>
            </a:r>
          </a:p>
        </p:txBody>
      </p:sp>
      <p:sp>
        <p:nvSpPr>
          <p:cNvPr id="7" name="Rectangle 6"/>
          <p:cNvSpPr/>
          <p:nvPr/>
        </p:nvSpPr>
        <p:spPr>
          <a:xfrm>
            <a:off x="292608" y="822960"/>
            <a:ext cx="73152" cy="201168"/>
          </a:xfrm>
          <a:prstGeom prst="rect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0624" y="786384"/>
            <a:ext cx="512064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400" b="1">
                <a:solidFill>
                  <a:srgbClr val="14233D"/>
                </a:solidFill>
                <a:latin typeface="微软雅黑"/>
                <a:ea typeface="微软雅黑"/>
                <a:cs typeface="微软雅黑"/>
              </a:rPr>
              <a:t>规划构建架构</a:t>
            </a:r>
          </a:p>
        </p:txBody>
      </p:sp>
      <p:sp>
        <p:nvSpPr>
          <p:cNvPr id="9" name="Rectangle 8"/>
          <p:cNvSpPr/>
          <p:nvPr/>
        </p:nvSpPr>
        <p:spPr>
          <a:xfrm>
            <a:off x="6144768" y="822960"/>
            <a:ext cx="73152" cy="201168"/>
          </a:xfrm>
          <a:prstGeom prst="rect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72784" y="786384"/>
            <a:ext cx="539496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400" b="1">
                <a:solidFill>
                  <a:srgbClr val="14233D"/>
                </a:solidFill>
                <a:latin typeface="微软雅黑"/>
                <a:ea typeface="微软雅黑"/>
                <a:cs typeface="微软雅黑"/>
              </a:rPr>
              <a:t>竞争力特性规划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92608" y="1078992"/>
            <a:ext cx="640080" cy="658368"/>
          </a:xfrm>
          <a:prstGeom prst="roundRect">
            <a:avLst>
              <a:gd name="adj" fmla="val 16000"/>
            </a:avLst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体验层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05840" y="1078992"/>
            <a:ext cx="4919472" cy="658368"/>
          </a:xfrm>
          <a:prstGeom prst="roundRect">
            <a:avLst>
              <a:gd name="adj" fmla="val 10000"/>
            </a:avLst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4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统一任务入口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100" b="0">
                <a:solidFill>
                  <a:srgbClr val="F8D0D4"/>
                </a:solidFill>
                <a:latin typeface="微软雅黑"/>
                <a:ea typeface="微软雅黑"/>
                <a:cs typeface="微软雅黑"/>
              </a:rPr>
              <a:t>用户无需预选单 Agent / Agent Team</a:t>
            </a:r>
          </a:p>
        </p:txBody>
      </p:sp>
      <p:sp>
        <p:nvSpPr>
          <p:cNvPr id="13" name="Down Arrow 12"/>
          <p:cNvSpPr/>
          <p:nvPr/>
        </p:nvSpPr>
        <p:spPr>
          <a:xfrm>
            <a:off x="3392424" y="1737360"/>
            <a:ext cx="146304" cy="82296"/>
          </a:xfrm>
          <a:prstGeom prst="downArrow">
            <a:avLst>
              <a:gd name="adj1" fmla="val 0"/>
              <a:gd name="adj2" fmla="val 50000"/>
            </a:avLst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292608" y="1828800"/>
            <a:ext cx="640080" cy="932688"/>
          </a:xfrm>
          <a:prstGeom prst="roundRect">
            <a:avLst>
              <a:gd name="adj" fmla="val 16000"/>
            </a:avLst>
          </a:prstGeom>
          <a:solidFill>
            <a:srgbClr val="1B5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调度层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05840" y="1828800"/>
            <a:ext cx="4919472" cy="457200"/>
          </a:xfrm>
          <a:prstGeom prst="roundRect">
            <a:avLst>
              <a:gd name="adj" fmla="val 10000"/>
            </a:avLst>
          </a:prstGeom>
          <a:solidFill>
            <a:srgbClr val="1B5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3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执行拓扑路由器  Topology Router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05840" y="2359152"/>
            <a:ext cx="1175004" cy="329184"/>
          </a:xfrm>
          <a:prstGeom prst="roundRect">
            <a:avLst>
              <a:gd name="adj" fmla="val 20000"/>
            </a:avLst>
          </a:prstGeom>
          <a:solidFill>
            <a:srgbClr val="EAF2FB"/>
          </a:solidFill>
          <a:ln w="12700">
            <a:solidFill>
              <a:srgbClr val="1B5F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100" b="1">
                <a:solidFill>
                  <a:srgbClr val="1B5FA8"/>
                </a:solidFill>
                <a:latin typeface="微软雅黑"/>
                <a:ea typeface="微软雅黑"/>
                <a:cs typeface="微软雅黑"/>
              </a:rPr>
              <a:t>Solo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253996" y="2359152"/>
            <a:ext cx="1175004" cy="329184"/>
          </a:xfrm>
          <a:prstGeom prst="roundRect">
            <a:avLst>
              <a:gd name="adj" fmla="val 20000"/>
            </a:avLst>
          </a:prstGeom>
          <a:solidFill>
            <a:srgbClr val="EAF2FB"/>
          </a:solidFill>
          <a:ln w="12700">
            <a:solidFill>
              <a:srgbClr val="1B5F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100" b="1">
                <a:solidFill>
                  <a:srgbClr val="1B5FA8"/>
                </a:solidFill>
                <a:latin typeface="微软雅黑"/>
                <a:ea typeface="微软雅黑"/>
                <a:cs typeface="微软雅黑"/>
              </a:rPr>
              <a:t>Subagent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502152" y="2359152"/>
            <a:ext cx="1175004" cy="329184"/>
          </a:xfrm>
          <a:prstGeom prst="roundRect">
            <a:avLst>
              <a:gd name="adj" fmla="val 20000"/>
            </a:avLst>
          </a:prstGeom>
          <a:solidFill>
            <a:srgbClr val="EAF2FB"/>
          </a:solidFill>
          <a:ln w="12700">
            <a:solidFill>
              <a:srgbClr val="1B5F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100" b="1">
                <a:solidFill>
                  <a:srgbClr val="1B5FA8"/>
                </a:solidFill>
                <a:latin typeface="微软雅黑"/>
                <a:ea typeface="微软雅黑"/>
                <a:cs typeface="微软雅黑"/>
              </a:rPr>
              <a:t>专家团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750308" y="2359152"/>
            <a:ext cx="1175004" cy="329184"/>
          </a:xfrm>
          <a:prstGeom prst="roundRect">
            <a:avLst>
              <a:gd name="adj" fmla="val 20000"/>
            </a:avLst>
          </a:prstGeom>
          <a:solidFill>
            <a:srgbClr val="EAF2FB"/>
          </a:solidFill>
          <a:ln w="12700">
            <a:solidFill>
              <a:srgbClr val="1B5F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100" b="1">
                <a:solidFill>
                  <a:srgbClr val="1B5FA8"/>
                </a:solidFill>
                <a:latin typeface="微软雅黑"/>
                <a:ea typeface="微软雅黑"/>
                <a:cs typeface="微软雅黑"/>
              </a:rPr>
              <a:t>Best-of-N</a:t>
            </a:r>
          </a:p>
        </p:txBody>
      </p:sp>
      <p:sp>
        <p:nvSpPr>
          <p:cNvPr id="20" name="Down Arrow 19"/>
          <p:cNvSpPr/>
          <p:nvPr/>
        </p:nvSpPr>
        <p:spPr>
          <a:xfrm>
            <a:off x="3392424" y="2761488"/>
            <a:ext cx="146304" cy="82296"/>
          </a:xfrm>
          <a:prstGeom prst="downArrow">
            <a:avLst>
              <a:gd name="adj1" fmla="val 0"/>
              <a:gd name="adj2" fmla="val 50000"/>
            </a:avLst>
          </a:prstGeom>
          <a:solidFill>
            <a:srgbClr val="1B5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292608" y="2852928"/>
            <a:ext cx="640080" cy="1115568"/>
          </a:xfrm>
          <a:prstGeom prst="roundRect">
            <a:avLst>
              <a:gd name="adj" fmla="val 16000"/>
            </a:avLst>
          </a:prstGeom>
          <a:solidFill>
            <a:srgbClr val="1F7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编排层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005840" y="2852928"/>
            <a:ext cx="2414016" cy="1115568"/>
          </a:xfrm>
          <a:prstGeom prst="roundRect">
            <a:avLst>
              <a:gd name="adj" fmla="val 10000"/>
            </a:avLst>
          </a:prstGeom>
          <a:solidFill>
            <a:srgbClr val="E7F4F1"/>
          </a:solidFill>
          <a:ln w="12700">
            <a:solidFill>
              <a:srgbClr val="1F7A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200" b="1">
                <a:solidFill>
                  <a:srgbClr val="1F7A6B"/>
                </a:solidFill>
                <a:latin typeface="微软雅黑"/>
                <a:ea typeface="微软雅黑"/>
                <a:cs typeface="微软雅黑"/>
              </a:rPr>
              <a:t>命中 Playbook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400" b="1">
                <a:solidFill>
                  <a:srgbClr val="14233D"/>
                </a:solidFill>
                <a:latin typeface="微软雅黑"/>
                <a:ea typeface="微软雅黑"/>
                <a:cs typeface="微软雅黑"/>
              </a:rPr>
              <a:t>固化专家团执行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000" b="0">
                <a:solidFill>
                  <a:srgbClr val="5B6573"/>
                </a:solidFill>
                <a:latin typeface="微软雅黑"/>
                <a:ea typeface="微软雅黑"/>
                <a:cs typeface="微软雅黑"/>
              </a:rPr>
              <a:t>确定性拓扑 · 质量门禁 · 版本一致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511296" y="2852928"/>
            <a:ext cx="2414016" cy="1115568"/>
          </a:xfrm>
          <a:prstGeom prst="roundRect">
            <a:avLst>
              <a:gd name="adj" fmla="val 10000"/>
            </a:avLst>
          </a:prstGeom>
          <a:solidFill>
            <a:srgbClr val="F8F1DE"/>
          </a:solidFill>
          <a:ln w="12700">
            <a:solidFill>
              <a:srgbClr val="9A720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200" b="1">
                <a:solidFill>
                  <a:srgbClr val="9A7209"/>
                </a:solidFill>
                <a:latin typeface="微软雅黑"/>
                <a:ea typeface="微软雅黑"/>
                <a:cs typeface="微软雅黑"/>
              </a:rPr>
              <a:t>未命中 → 动态编排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400" b="1">
                <a:solidFill>
                  <a:srgbClr val="14233D"/>
                </a:solidFill>
                <a:latin typeface="微软雅黑"/>
                <a:ea typeface="微软雅黑"/>
                <a:cs typeface="微软雅黑"/>
              </a:rPr>
              <a:t>Intent-to-Team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000" b="0">
                <a:solidFill>
                  <a:srgbClr val="5B6573"/>
                </a:solidFill>
                <a:latin typeface="微软雅黑"/>
                <a:ea typeface="微软雅黑"/>
                <a:cs typeface="微软雅黑"/>
              </a:rPr>
              <a:t>拆解 Teammate / DAG，成功后固化沉淀</a:t>
            </a:r>
          </a:p>
        </p:txBody>
      </p:sp>
      <p:sp>
        <p:nvSpPr>
          <p:cNvPr id="24" name="Down Arrow 23"/>
          <p:cNvSpPr/>
          <p:nvPr/>
        </p:nvSpPr>
        <p:spPr>
          <a:xfrm>
            <a:off x="3392424" y="3968496"/>
            <a:ext cx="146304" cy="82296"/>
          </a:xfrm>
          <a:prstGeom prst="downArrow">
            <a:avLst>
              <a:gd name="adj1" fmla="val 0"/>
              <a:gd name="adj2" fmla="val 50000"/>
            </a:avLst>
          </a:prstGeom>
          <a:solidFill>
            <a:srgbClr val="1F7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292608" y="4059936"/>
            <a:ext cx="640080" cy="768096"/>
          </a:xfrm>
          <a:prstGeom prst="roundRect">
            <a:avLst>
              <a:gd name="adj" fmla="val 16000"/>
            </a:avLst>
          </a:prstGeom>
          <a:solidFill>
            <a:srgbClr val="5A4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资产层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005840" y="4059936"/>
            <a:ext cx="4919472" cy="768096"/>
          </a:xfrm>
          <a:prstGeom prst="roundRect">
            <a:avLst>
              <a:gd name="adj" fmla="val 10000"/>
            </a:avLst>
          </a:prstGeom>
          <a:solidFill>
            <a:srgbClr val="5A4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3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专家中心 / 企业专家库 / 个人专家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100" b="0">
                <a:solidFill>
                  <a:srgbClr val="E4DDF3"/>
                </a:solidFill>
                <a:latin typeface="微软雅黑"/>
                <a:ea typeface="微软雅黑"/>
                <a:cs typeface="微软雅黑"/>
              </a:rPr>
              <a:t>人设 + 方法论 + 工具链 + 验收标准</a:t>
            </a:r>
          </a:p>
        </p:txBody>
      </p:sp>
      <p:sp>
        <p:nvSpPr>
          <p:cNvPr id="27" name="Down Arrow 26"/>
          <p:cNvSpPr/>
          <p:nvPr/>
        </p:nvSpPr>
        <p:spPr>
          <a:xfrm>
            <a:off x="3392424" y="4828032"/>
            <a:ext cx="146304" cy="82296"/>
          </a:xfrm>
          <a:prstGeom prst="downArrow">
            <a:avLst>
              <a:gd name="adj1" fmla="val 0"/>
              <a:gd name="adj2" fmla="val 50000"/>
            </a:avLst>
          </a:prstGeom>
          <a:solidFill>
            <a:srgbClr val="5A4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292608" y="4919472"/>
            <a:ext cx="640080" cy="758952"/>
          </a:xfrm>
          <a:prstGeom prst="roundRect">
            <a:avLst>
              <a:gd name="adj" fmla="val 16000"/>
            </a:avLst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引擎层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005840" y="4919472"/>
            <a:ext cx="4919472" cy="758952"/>
          </a:xfrm>
          <a:prstGeom prst="roundRect">
            <a:avLst>
              <a:gd name="adj" fmla="val 10000"/>
            </a:avLst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3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Agent Team 协作运行时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000" b="0">
                <a:solidFill>
                  <a:srgbClr val="D5DDE6"/>
                </a:solidFill>
                <a:latin typeface="微软雅黑"/>
                <a:ea typeface="微软雅黑"/>
                <a:cs typeface="微软雅黑"/>
              </a:rPr>
              <a:t>Leader 智能编排 · Teammate 自主执行 · 双向通信 · DAG 可视</a:t>
            </a:r>
          </a:p>
        </p:txBody>
      </p:sp>
      <p:sp>
        <p:nvSpPr>
          <p:cNvPr id="30" name="Down Arrow 29"/>
          <p:cNvSpPr/>
          <p:nvPr/>
        </p:nvSpPr>
        <p:spPr>
          <a:xfrm>
            <a:off x="3392424" y="5678424"/>
            <a:ext cx="146304" cy="82296"/>
          </a:xfrm>
          <a:prstGeom prst="downArrow">
            <a:avLst>
              <a:gd name="adj1" fmla="val 0"/>
              <a:gd name="adj2" fmla="val 50000"/>
            </a:avLst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292608" y="5769864"/>
            <a:ext cx="640080" cy="758952"/>
          </a:xfrm>
          <a:prstGeom prst="roundRect">
            <a:avLst>
              <a:gd name="adj" fmla="val 16000"/>
            </a:avLst>
          </a:prstGeom>
          <a:solidFill>
            <a:srgbClr val="142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治理层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005840" y="5769864"/>
            <a:ext cx="4919472" cy="758952"/>
          </a:xfrm>
          <a:prstGeom prst="roundRect">
            <a:avLst>
              <a:gd name="adj" fmla="val 10000"/>
            </a:avLst>
          </a:prstGeom>
          <a:solidFill>
            <a:srgbClr val="142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3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质量闭环与企业管控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000" b="0">
                <a:solidFill>
                  <a:srgbClr val="C9D3E0"/>
                </a:solidFill>
                <a:latin typeface="微软雅黑"/>
                <a:ea typeface="微软雅黑"/>
                <a:cs typeface="微软雅黑"/>
              </a:rPr>
              <a:t>强制检视席 · CodeArts 流水线门禁 · 审计留痕 · Token/并发配额</a:t>
            </a:r>
          </a:p>
        </p:txBody>
      </p:sp>
      <p:graphicFrame>
        <p:nvGraphicFramePr>
          <p:cNvPr id="33" name="Table 32"/>
          <p:cNvGraphicFramePr>
            <a:graphicFrameLocks noGrp="1"/>
          </p:cNvGraphicFramePr>
          <p:nvPr/>
        </p:nvGraphicFramePr>
        <p:xfrm>
          <a:off x="6144768" y="1078992"/>
          <a:ext cx="5742431" cy="54507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72768"/>
                <a:gridCol w="4169663"/>
              </a:tblGrid>
              <a:tr h="384048">
                <a:tc>
                  <a:txBody>
                    <a:bodyPr wrap="square" tIns="91440" bIns="73152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40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关键竞争力</a:t>
                      </a:r>
                    </a:p>
                  </a:txBody>
                  <a:tcPr anchor="ctr">
                    <a:solidFill>
                      <a:srgbClr val="C7000B"/>
                    </a:solidFill>
                  </a:tcPr>
                </a:tc>
                <a:tc>
                  <a:txBody>
                    <a:bodyPr wrap="square" tIns="91440" bIns="73152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40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竞争力描述</a:t>
                      </a:r>
                    </a:p>
                  </a:txBody>
                  <a:tcPr anchor="ctr">
                    <a:solidFill>
                      <a:srgbClr val="C7000B"/>
                    </a:solidFill>
                  </a:tcPr>
                </a:tc>
              </a:tr>
              <a:tr h="1688896">
                <a:tc>
                  <a:txBody>
                    <a:bodyPr wrap="square" tIns="91440" bIns="73152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400"/>
                        </a:spcAft>
                      </a:pPr>
                      <a:r>
                        <a:rPr sz="1200" b="1">
                          <a:solidFill>
                            <a:srgbClr val="1B5FA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研发专家/</a:t>
                      </a: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50" b="0">
                          <a:solidFill>
                            <a:srgbClr val="1B5FA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专家团资产化</a:t>
                      </a:r>
                    </a:p>
                  </a:txBody>
                  <a:tcPr anchor="ctr">
                    <a:solidFill>
                      <a:srgbClr val="E8F1FB"/>
                    </a:solidFill>
                  </a:tcPr>
                </a:tc>
                <a:tc>
                  <a:txBody>
                    <a:bodyPr wrap="square" lIns="109728" tIns="91440" bIns="73152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500"/>
                        </a:spcAft>
                      </a:pPr>
                      <a:r>
                        <a:rPr sz="1100" b="1">
                          <a:solidFill>
                            <a:srgbClr val="14233D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将 Agent Team 产品化为可召唤的研发岗位资产，以「人设 + 方法论 + 工具链 + 验收标准」沉淀专家能力。</a:t>
                      </a:r>
                    </a:p>
                    <a:p>
                      <a:pPr algn="l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50" b="0">
                          <a:solidFill>
                            <a:srgbClr val="3D465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• 构建官方预置 / 企业专家库 / 个人专家三级货架，一键召唤、隐藏编排细节</a:t>
                      </a:r>
                    </a:p>
                    <a:p>
                      <a:pPr algn="l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50" b="0">
                          <a:solidFill>
                            <a:srgbClr val="3D465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• 预置 Issue 修复、三方库升级、安全检视、需求到交付等高频专家团</a:t>
                      </a:r>
                    </a:p>
                    <a:p>
                      <a:pPr algn="l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50" b="0">
                          <a:solidFill>
                            <a:srgbClr val="3D465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• 对标 WorkBuddy 消费体验，差异化绑定软件工程闭环与企业资产治理</a:t>
                      </a:r>
                    </a:p>
                  </a:txBody>
                  <a:tcPr anchor="t">
                    <a:solidFill>
                      <a:srgbClr val="E8F1FB"/>
                    </a:solidFill>
                  </a:tcPr>
                </a:tc>
              </a:tr>
              <a:tr h="1688896">
                <a:tc>
                  <a:txBody>
                    <a:bodyPr wrap="square" tIns="91440" bIns="73152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400"/>
                        </a:spcAft>
                      </a:pPr>
                      <a:r>
                        <a:rPr sz="1200" b="1">
                          <a:solidFill>
                            <a:srgbClr val="1F7A6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自主编排与</a:t>
                      </a: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50" b="0">
                          <a:solidFill>
                            <a:srgbClr val="1F7A6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Playbook 固化</a:t>
                      </a:r>
                    </a:p>
                  </a:txBody>
                  <a:tcPr anchor="ctr">
                    <a:solidFill>
                      <a:srgbClr val="F7F8FA"/>
                    </a:solidFill>
                  </a:tcPr>
                </a:tc>
                <a:tc>
                  <a:txBody>
                    <a:bodyPr wrap="square" lIns="109728" tIns="91440" bIns="73152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500"/>
                        </a:spcAft>
                      </a:pPr>
                      <a:r>
                        <a:rPr sz="1100" b="1">
                          <a:solidFill>
                            <a:srgbClr val="14233D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基于任务描述自动识别意图，约束化拆解 Teammate 并生成可执行 DAG，避免角色随机漂移。</a:t>
                      </a:r>
                    </a:p>
                    <a:p>
                      <a:pPr algn="l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50" b="0">
                          <a:solidFill>
                            <a:srgbClr val="3D465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• 升级 /save-team 为 Playbook：固化角色、流程骨架、工具绑定、门禁与版本</a:t>
                      </a:r>
                    </a:p>
                    <a:p>
                      <a:pPr algn="l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50" b="0">
                          <a:solidFill>
                            <a:srgbClr val="3D465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• 支持用户自组团（可视化 + 自然语言）并沉淀为企业可复用模板</a:t>
                      </a:r>
                    </a:p>
                    <a:p>
                      <a:pPr algn="l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50" b="0">
                          <a:solidFill>
                            <a:srgbClr val="3D465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• 同类任务二次执行拓扑一致，解决“每次生成团队不同”的稳态问题</a:t>
                      </a:r>
                    </a:p>
                  </a:txBody>
                  <a:tcPr anchor="t">
                    <a:solidFill>
                      <a:srgbClr val="F7F8FA"/>
                    </a:solidFill>
                  </a:tcPr>
                </a:tc>
              </a:tr>
              <a:tr h="1688896">
                <a:tc>
                  <a:txBody>
                    <a:bodyPr wrap="square" tIns="91440" bIns="73152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400"/>
                        </a:spcAft>
                      </a:pPr>
                      <a:r>
                        <a:rPr sz="1200" b="1">
                          <a:solidFill>
                            <a:srgbClr val="C7000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执行拓扑</a:t>
                      </a: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50" b="0">
                          <a:solidFill>
                            <a:srgbClr val="C7000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自动路由</a:t>
                      </a:r>
                    </a:p>
                  </a:txBody>
                  <a:tcPr anchor="ctr">
                    <a:solidFill>
                      <a:srgbClr val="E8F1FB"/>
                    </a:solidFill>
                  </a:tcPr>
                </a:tc>
                <a:tc>
                  <a:txBody>
                    <a:bodyPr wrap="square" lIns="109728" tIns="91440" bIns="73152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500"/>
                        </a:spcAft>
                      </a:pPr>
                      <a:r>
                        <a:rPr sz="1100" b="1">
                          <a:solidFill>
                            <a:srgbClr val="14233D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提供统一任务入口，按范围、可并行度、角色异构、风险与预算自动选择执行拓扑。</a:t>
                      </a:r>
                    </a:p>
                    <a:p>
                      <a:pPr algn="l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50" b="0">
                          <a:solidFill>
                            <a:srgbClr val="3D465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• 四级路由：Solo / Subagent / 专家团 / Best-of-N，默认 Solo、满足条件再升级</a:t>
                      </a:r>
                    </a:p>
                    <a:p>
                      <a:pPr algn="l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50" b="0">
                          <a:solidFill>
                            <a:srgbClr val="3D465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• 运行中支持升降级；路由结果可解释、可人工覆盖，并纳入企业配额策略</a:t>
                      </a:r>
                    </a:p>
                    <a:p>
                      <a:pPr algn="l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50" b="0">
                          <a:solidFill>
                            <a:srgbClr val="3D465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• 友商仅有模型路由或 Subagent 委派，拓扑路由尚无完整产品化，具备窗口期领先性</a:t>
                      </a:r>
                    </a:p>
                  </a:txBody>
                  <a:tcPr anchor="t">
                    <a:solidFill>
                      <a:srgbClr val="E8F1FB"/>
                    </a:solidFill>
                  </a:tcPr>
                </a:tc>
              </a:tr>
            </a:tbl>
          </a:graphicData>
        </a:graphic>
      </p:graphicFrame>
      <p:sp>
        <p:nvSpPr>
          <p:cNvPr id="34" name="TextBox 33"/>
          <p:cNvSpPr txBox="1"/>
          <p:nvPr/>
        </p:nvSpPr>
        <p:spPr>
          <a:xfrm>
            <a:off x="292608" y="6656832"/>
            <a:ext cx="8412480" cy="1828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0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华为云码道 CodeArts  |  OBP 规划  |  对标 WorkBuddy / Grok Bot / Claude Code / Copilot CLI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326880" y="6656832"/>
            <a:ext cx="2560320" cy="1828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/>
            <a:r>
              <a:rPr sz="10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内部公开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