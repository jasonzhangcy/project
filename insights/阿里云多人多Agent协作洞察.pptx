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19456"/>
            <a:ext cx="73152" cy="40233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521440" cy="530352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20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阿里云：Qoder、QoderWake、千问办公三线布局多人多Agent协作入口，驱动Agent负载上云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521440" cy="27432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核心判断：</a:t>
            </a: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一套 Agent Harness 底座 + 三个协作入口（研发项目现场 / IM 数字员工 / 企业上下文），把 Agent 的“工作时长”转化为云上 CPU、存储、网络与 Token 消耗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969264"/>
            <a:ext cx="1154887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0040" y="1042415"/>
            <a:ext cx="3749039" cy="4114800"/>
          </a:xfrm>
          <a:prstGeom prst="roundRect">
            <a:avLst>
              <a:gd name="adj" fmla="val 3000"/>
            </a:avLst>
          </a:prstGeom>
          <a:solidFill>
            <a:srgbClr val="FFF7E1"/>
          </a:solidFill>
          <a:ln w="9525">
            <a:solidFill>
              <a:srgbClr val="F5C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042415"/>
            <a:ext cx="3749039" cy="512064"/>
          </a:xfrm>
          <a:prstGeom prst="roundRect">
            <a:avLst>
              <a:gd name="adj" fmla="val 12000"/>
            </a:avLst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08176"/>
            <a:ext cx="3749039" cy="146304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060704"/>
            <a:ext cx="3602735" cy="29260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Qoder</a:t>
            </a: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|  研发项目现场的人机协同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1325880"/>
            <a:ext cx="3602735" cy="219456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850" b="0">
                <a:solidFill>
                  <a:srgbClr val="5A3A00"/>
                </a:solidFill>
                <a:latin typeface="Microsoft YaHei"/>
                <a:ea typeface="Microsoft YaHei"/>
                <a:cs typeface="Microsoft YaHei"/>
              </a:rPr>
              <a:t>9.23 云栖发布 · Teams / Enterprise 内测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79" y="1627631"/>
            <a:ext cx="460755" cy="201168"/>
          </a:xfrm>
          <a:prstGeom prst="roundRect">
            <a:avLst>
              <a:gd name="adj" fmla="val 30000"/>
            </a:avLst>
          </a:prstGeom>
          <a:solidFill>
            <a:srgbClr val="B8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627631"/>
            <a:ext cx="460755" cy="20116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12000"/>
              </a:lnSpc>
              <a:spcAft>
                <a:spcPts val="15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1847087"/>
            <a:ext cx="3566159" cy="698296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1">
                <a:solidFill>
                  <a:srgbClr val="B87800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以 Issue 拆解研发目标（目标 / 完成条件 / 优先级），6 态看板跟踪，关联代码仓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1">
                <a:solidFill>
                  <a:srgbClr val="B87800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Issue 一键发起讨论，背景自动带入，讨论资产沉淀在任务上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79" y="2581960"/>
            <a:ext cx="460755" cy="201168"/>
          </a:xfrm>
          <a:prstGeom prst="roundRect">
            <a:avLst>
              <a:gd name="adj" fmla="val 30000"/>
            </a:avLst>
          </a:prstGeom>
          <a:solidFill>
            <a:srgbClr val="B8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581960"/>
            <a:ext cx="460755" cy="20116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12000"/>
              </a:lnSpc>
              <a:spcAft>
                <a:spcPts val="15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2801416"/>
            <a:ext cx="3566159" cy="1024585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1">
                <a:solidFill>
                  <a:srgbClr val="B87800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成员与 Agent 同空间评审方案，@Agent 比较方案、补测试用例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1">
                <a:solidFill>
                  <a:srgbClr val="B87800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“关键消息”沉淀决策；Agent Team 由负责人 Agent 拆解、分派、汇总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1">
                <a:solidFill>
                  <a:srgbClr val="B87800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短板：仅能 @ 自有 Agent、需本机在线，结论需人工回写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79" y="4028998"/>
            <a:ext cx="3566159" cy="105506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9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79" y="4083862"/>
            <a:ext cx="45720" cy="94533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19" y="4056430"/>
            <a:ext cx="3438143" cy="1000201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产品战略意图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① </a:t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抢占“需求→代码”上游入口，决策留在哪、执行就留在哪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② </a:t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协同仅企业版开放，推动个人订阅转向组织 Credits 池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③ </a:t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Agent / Skill 资产化，团队经验沉淀即迁移壁垒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④ </a:t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本机执行为过渡态，终局走向 Cloud Agents 云端托管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24527" y="1042415"/>
            <a:ext cx="3749039" cy="4114800"/>
          </a:xfrm>
          <a:prstGeom prst="roundRect">
            <a:avLst>
              <a:gd name="adj" fmla="val 3000"/>
            </a:avLst>
          </a:prstGeom>
          <a:solidFill>
            <a:srgbClr val="FFF7E1"/>
          </a:solidFill>
          <a:ln w="9525">
            <a:solidFill>
              <a:srgbClr val="F5C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24527" y="1042415"/>
            <a:ext cx="3749039" cy="512064"/>
          </a:xfrm>
          <a:prstGeom prst="roundRect">
            <a:avLst>
              <a:gd name="adj" fmla="val 12000"/>
            </a:avLst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24527" y="1408176"/>
            <a:ext cx="3749039" cy="146304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79" y="1060704"/>
            <a:ext cx="3602735" cy="29260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QoderWake</a:t>
            </a: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|  IM 中 7×24 在岗的数字员工团队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1325880"/>
            <a:ext cx="3602735" cy="219456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850" b="0">
                <a:solidFill>
                  <a:srgbClr val="5A3A00"/>
                </a:solidFill>
                <a:latin typeface="Microsoft YaHei"/>
                <a:ea typeface="Microsoft YaHei"/>
                <a:cs typeface="Microsoft YaHei"/>
              </a:rPr>
              <a:t>9 月发布 1.0 · 从“招一位”到“组建一支团队”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7" y="1627631"/>
            <a:ext cx="1154493" cy="201168"/>
          </a:xfrm>
          <a:prstGeom prst="roundRect">
            <a:avLst>
              <a:gd name="adj" fmla="val 30000"/>
            </a:avLst>
          </a:prstGeom>
          <a:solidFill>
            <a:srgbClr val="B8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7" y="1627631"/>
            <a:ext cx="1154493" cy="20116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12000"/>
              </a:lnSpc>
              <a:spcAft>
                <a:spcPts val="15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多人多Agent协同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7" y="1847087"/>
            <a:ext cx="3566159" cy="3720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1">
                <a:solidFill>
                  <a:srgbClr val="B87800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Waker 群组混编本地 / 远程 Waker，Leader 按 SOP 分派；WakerFlow 编排流程，定时 / 事件 / API 自动开工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15967" y="2255672"/>
            <a:ext cx="834770" cy="201168"/>
          </a:xfrm>
          <a:prstGeom prst="roundRect">
            <a:avLst>
              <a:gd name="adj" fmla="val 30000"/>
            </a:avLst>
          </a:prstGeom>
          <a:solidFill>
            <a:srgbClr val="B8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15967" y="2255672"/>
            <a:ext cx="834770" cy="20116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12000"/>
              </a:lnSpc>
              <a:spcAft>
                <a:spcPts val="15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结合IM能力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7" y="2475128"/>
            <a:ext cx="3566159" cy="3720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1">
                <a:solidFill>
                  <a:srgbClr val="B87800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@Waker 覆盖钉钉 / 飞书 / 企微等：理解历史消息、群任务、群记忆、话题整理，高危操作审批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15967" y="2883712"/>
            <a:ext cx="1546606" cy="201168"/>
          </a:xfrm>
          <a:prstGeom prst="roundRect">
            <a:avLst>
              <a:gd name="adj" fmla="val 30000"/>
            </a:avLst>
          </a:prstGeom>
          <a:solidFill>
            <a:srgbClr val="B8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15967" y="2883712"/>
            <a:ext cx="1546606" cy="20116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12000"/>
              </a:lnSpc>
              <a:spcAft>
                <a:spcPts val="15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拥有长期记忆的数字员工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7" y="3103168"/>
            <a:ext cx="3566159" cy="870966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1">
                <a:solidFill>
                  <a:srgbClr val="B87800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五层记忆：个人 / 项目 / 群 / 成员 / 单聊，自动沉淀 + 版本回滚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1">
                <a:solidFill>
                  <a:srgbClr val="B87800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Memory 与 Skill 自进化，成长时间线记录进化轨迹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1">
                <a:solidFill>
                  <a:srgbClr val="B87800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演进：补齐企业层、上云托管 → 个人-群-项目-企业四层记忆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5967" y="4028998"/>
            <a:ext cx="3566159" cy="105506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9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15967" y="4083862"/>
            <a:ext cx="45720" cy="94533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07407" y="4056430"/>
            <a:ext cx="3438143" cy="1000201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产品战略意图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① </a:t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员工与工位分离：7×24、并发、合规需求把工位迁上云（无影 / ECS / 计算巢）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② </a:t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常驻 Agent 持续消耗 CPU / 存储 / 网络：千人研发 × 2 Waker ≈ 4000 vCPU 常驻（示意）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③ </a:t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长期记忆 + 自进化形成切换成本，越用越难替换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29015" y="1042415"/>
            <a:ext cx="3749039" cy="4114800"/>
          </a:xfrm>
          <a:prstGeom prst="roundRect">
            <a:avLst>
              <a:gd name="adj" fmla="val 3000"/>
            </a:avLst>
          </a:prstGeom>
          <a:solidFill>
            <a:srgbClr val="FFF7E1"/>
          </a:solidFill>
          <a:ln w="9525">
            <a:solidFill>
              <a:srgbClr val="F5C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129015" y="1042415"/>
            <a:ext cx="3749039" cy="512064"/>
          </a:xfrm>
          <a:prstGeom prst="roundRect">
            <a:avLst>
              <a:gd name="adj" fmla="val 12000"/>
            </a:avLst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29015" y="1408176"/>
            <a:ext cx="3749039" cy="146304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02167" y="1060704"/>
            <a:ext cx="3602735" cy="29260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千问办公</a:t>
            </a: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|  企业上下文驱动的组织级协作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02167" y="1325880"/>
            <a:ext cx="3602735" cy="219456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850" b="0">
                <a:solidFill>
                  <a:srgbClr val="5A3A00"/>
                </a:solidFill>
                <a:latin typeface="Microsoft YaHei"/>
                <a:ea typeface="Microsoft YaHei"/>
                <a:cs typeface="Microsoft YaHei"/>
              </a:rPr>
              <a:t>9.22 云栖发布 · 与钉钉同一负责人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0455" y="1627631"/>
            <a:ext cx="822706" cy="201168"/>
          </a:xfrm>
          <a:prstGeom prst="roundRect">
            <a:avLst>
              <a:gd name="adj" fmla="val 30000"/>
            </a:avLst>
          </a:prstGeom>
          <a:solidFill>
            <a:srgbClr val="B8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0455" y="1627631"/>
            <a:ext cx="822706" cy="20116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12000"/>
              </a:lnSpc>
              <a:spcAft>
                <a:spcPts val="15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企业上下文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0455" y="1847087"/>
            <a:ext cx="3566159" cy="544677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1">
                <a:solidFill>
                  <a:srgbClr val="B87800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汇聚 IM 与 SAP、Salesforce 数据，压缩 + 结构化 + 周期刷新，专属模型降 Token 成本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1">
                <a:solidFill>
                  <a:srgbClr val="B87800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公司级 / 部门级知识空间，Agent 按任务按需调用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0455" y="2428341"/>
            <a:ext cx="1154493" cy="201168"/>
          </a:xfrm>
          <a:prstGeom prst="roundRect">
            <a:avLst>
              <a:gd name="adj" fmla="val 30000"/>
            </a:avLst>
          </a:prstGeom>
          <a:solidFill>
            <a:srgbClr val="B8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0455" y="2428341"/>
            <a:ext cx="1154493" cy="20116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12000"/>
              </a:lnSpc>
              <a:spcAft>
                <a:spcPts val="15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多人多Agent协同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0455" y="2647797"/>
            <a:ext cx="3566159" cy="870966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1">
                <a:solidFill>
                  <a:srgbClr val="B87800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协作空间关联群聊、文档、知识库，人-人、人-Agent、Agent-Agent 分工协作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1">
                <a:solidFill>
                  <a:srgbClr val="B87800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数字员工有部门、负责人、授权与生命周期；富立卡三员工接力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1">
                <a:solidFill>
                  <a:srgbClr val="B87800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Managed Agents 云端沙箱运行，安全中心全程审计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0455" y="4028998"/>
            <a:ext cx="3566159" cy="105506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9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20455" y="4083862"/>
            <a:ext cx="45720" cy="94533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11895" y="4056430"/>
            <a:ext cx="3438143" cy="1000201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产品战略意图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① </a:t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上下文即护城河：成为企业数据面向 Agent 的统一出口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② </a:t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复用钉钉组织身份与权限体系，锁定组织级入口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③ </a:t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上下文加工 + 托管运行，持续拉动数据处理与 Token 消耗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0040" y="5248656"/>
            <a:ext cx="11548872" cy="1344168"/>
          </a:xfrm>
          <a:prstGeom prst="roundRect">
            <a:avLst>
              <a:gd name="adj" fmla="val 4000"/>
            </a:avLst>
          </a:prstGeom>
          <a:solidFill>
            <a:srgbClr val="008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5285232"/>
            <a:ext cx="11338560" cy="310896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观点（给码道 CodeArts 的启示）：</a:t>
            </a: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研发协作的竞争单元正从“个人 + Agent”转向“团队 + 数字员工”，码道应以项目为锚、以记忆为核、以云端工位变现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1480" y="5632704"/>
            <a:ext cx="275920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84632" y="5696712"/>
            <a:ext cx="256032" cy="256032"/>
          </a:xfrm>
          <a:prstGeom prst="ellipse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4632" y="569671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18288" bIns="18288"/>
          <a:lstStyle/>
          <a:p>
            <a:pPr algn="ctr">
              <a:lnSpc>
                <a:spcPct val="112000"/>
              </a:lnSpc>
              <a:spcAft>
                <a:spcPts val="15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" y="5678424"/>
            <a:ext cx="2347722" cy="29260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0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项目即上下文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632" y="5971032"/>
            <a:ext cx="2631186" cy="502919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以 CodeArts 需求-代码-流水线-测试全链路对象为共享上下文，打通“讨论→拆单→Agent 执行→验收回写”闭环，补齐 Qoder 人工回写短板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80410" y="5632704"/>
            <a:ext cx="275920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353562" y="5696712"/>
            <a:ext cx="256032" cy="256032"/>
          </a:xfrm>
          <a:prstGeom prst="ellipse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353562" y="569671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18288" bIns="18288"/>
          <a:lstStyle/>
          <a:p>
            <a:pPr algn="ctr">
              <a:lnSpc>
                <a:spcPct val="112000"/>
              </a:lnSpc>
              <a:spcAft>
                <a:spcPts val="15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46170" y="5678424"/>
            <a:ext cx="2347722" cy="29260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0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共享数字员工上云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53562" y="5971032"/>
            <a:ext cx="2631186" cy="502919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从“个人 Agent 进群”升级为项目级共享研发数字员工（需求 / 编码 / 检视 / 测试 / 值守），云端托管 7×24 在线，进驻 WeLink 等 IM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49340" y="5632704"/>
            <a:ext cx="275920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222492" y="5696712"/>
            <a:ext cx="256032" cy="256032"/>
          </a:xfrm>
          <a:prstGeom prst="ellipse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22492" y="569671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18288" bIns="18288"/>
          <a:lstStyle/>
          <a:p>
            <a:pPr algn="ctr">
              <a:lnSpc>
                <a:spcPct val="112000"/>
              </a:lnSpc>
              <a:spcAft>
                <a:spcPts val="15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15100" y="5678424"/>
            <a:ext cx="2347722" cy="29260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0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四层记忆 + 持续进化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22492" y="5971032"/>
            <a:ext cx="2631186" cy="502919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构建个人-团队-项目-企业四层云端记忆，自动沉淀 + 人工确认 + 版本回滚；Skill 自进化经组织审核后统一下发，沉淀为企业研发资产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018270" y="5632704"/>
            <a:ext cx="275920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091422" y="5696712"/>
            <a:ext cx="256032" cy="256032"/>
          </a:xfrm>
          <a:prstGeom prst="ellipse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091422" y="569671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18288" bIns="18288"/>
          <a:lstStyle/>
          <a:p>
            <a:pPr algn="ctr">
              <a:lnSpc>
                <a:spcPct val="112000"/>
              </a:lnSpc>
              <a:spcAft>
                <a:spcPts val="15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84030" y="5678424"/>
            <a:ext cx="2347722" cy="29260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0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数字员工拉动通算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91422" y="5971032"/>
            <a:ext cx="2631186" cy="502919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以“云端工位”承接数字员工常驻运行，按规格 × 时长计费，带动鲲鹏 CPU、存储、网络消耗，实现从“席位收入”到“席位 + 资源”双收入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0040" y="6611112"/>
            <a:ext cx="11548872" cy="18288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7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资料来源：Qoder / QoderWake 官方文档与更新日志、Qoder Cloud Agents 1.0 发布文、2026 杭州云栖大会（吴泳铭、李飞飞主题演讲，千问办公发布会）公开报道；vCPU 规模为示意测算。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