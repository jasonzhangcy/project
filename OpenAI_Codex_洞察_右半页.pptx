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【本页主张】通用智能体的终局是个人通用智能；而通往终局的底座是代码——我们做的正是那个内核。</a:t>
            </a:r>
          </a:p>
          <a:p/>
          <a:p>
            <a:r>
              <a:t>【上半部分怎么讲】四段形态演进：工具 → 任务 → 融合 → 内核，右端收敛为一个极简应用。交叉曲线是题眼：底层能力持续上升，用户可见的界面持续做减法（对应 Tibo：底层可以极度复杂，暴露给用户的必须极简）。</a:t>
            </a:r>
          </a:p>
          <a:p/>
          <a:p>
            <a:r>
              <a:t>【下半部分怎么讲】自下而上四层：</a:t>
            </a:r>
          </a:p>
          <a:p>
            <a:r>
              <a:t>- 云端执行层：笔记本按人的节奏设计，是物理瓶颈；端侧只做轻交互，重执行全部上云。</a:t>
            </a:r>
          </a:p>
          <a:p>
            <a:r>
              <a:t>- 原生多模态模型：编程、工具调用、搜索、调研、语音、视觉长在同一套底座上；编程是穿透所有场景的核心能力。</a:t>
            </a:r>
          </a:p>
          <a:p>
            <a:r>
              <a:t>- 统一智能体内核：今天手工维护技能/记忆/子智能体是过渡形态，明天由模型自治——模型越强，脚手架越少。</a:t>
            </a:r>
          </a:p>
          <a:p>
            <a:r>
              <a:t>- 自适应界面层：同一底座，程序员看到开发环境，销售看到客户数据台，普通用户看到一个对话框。</a:t>
            </a:r>
          </a:p>
          <a:p>
            <a:r>
              <a:t>右侧红色竖轴贯穿三层：代码是人工智能操作数字世界的底层机器语言。底部扩散带：程序员只是首批体验群体，最终覆盖所有人。</a:t>
            </a:r>
          </a:p>
          <a:p/>
          <a:p>
            <a:r>
              <a:t>【对内定位的三句话】</a:t>
            </a:r>
          </a:p>
          <a:p>
            <a:r>
              <a:t>1. 终局是一个产品，但内核只有一个，而内核是从代码侧长出来的。</a:t>
            </a:r>
          </a:p>
          <a:p>
            <a:r>
              <a:t>2. 代码智能体做能力内核与执行引擎，通用/办公侧做入口与场景界面，二者是上下游而不是零和。</a:t>
            </a:r>
          </a:p>
          <a:p>
            <a:r>
              <a:t>3. 办公任务的天花板由代码能力决定：跨系统集成、批处理、自定义逻辑本质都是编程问题；代码侧有编译与测试这类客观验证信号，能力只能由代码侧外溢到办公侧，反向很难。</a:t>
            </a:r>
          </a:p>
          <a:p/>
          <a:p>
            <a:r>
              <a:t>【风险提示】</a:t>
            </a:r>
          </a:p>
          <a:p>
            <a:r>
              <a:t>- 标★的两处是我方推论，Tibo 原话只说“下一代模型要求 ChatGPT 与 Codex 合并”，未直接断言“代码智能体是通用智能体的核心”，被追问时按上面三句话展开。</a:t>
            </a:r>
          </a:p>
          <a:p>
            <a:r>
              <a:t>- Tibo 把 Codex 近期增长主要归因于 ChatGPT 的既有用户基础做分发，对方可能引用；用“内核 vs 入口”的分层回应，不要否定入口价值。</a:t>
            </a:r>
          </a:p>
          <a:p>
            <a:r>
              <a:t>- 端侧的准确表述是“端侧轻交互 + 云端重执行”，不要说成“端侧智能体成为主流”。</a:t>
            </a:r>
          </a:p>
          <a:p>
            <a:r>
              <a:t>- 数据锚点均出自该访谈：Codex 约 2000 万用户、基础推理速度 3 个月约 +60%、极速模式最高约 14 倍、Luna 运行成本降约 80%、未来单模型可并发上百个应用。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56032"/>
            <a:ext cx="5138928" cy="643737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4D3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88920"/>
            <a:ext cx="4407408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1">
                <a:solidFill>
                  <a:srgbClr val="9DA6B4"/>
                </a:solidFill>
                <a:latin typeface="Microsoft YaHei"/>
                <a:ea typeface="Microsoft YaHei"/>
                <a:cs typeface="Microsoft YaHei"/>
              </a:rPr>
              <a:t>左半区（保留位）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9DA6B4"/>
                </a:solidFill>
                <a:latin typeface="Microsoft YaHei"/>
                <a:ea typeface="Microsoft YaHei"/>
                <a:cs typeface="Microsoft YaHei"/>
              </a:rPr>
              <a:t>当前：OpenAI 与 Codex 的发展趋势 —— 你已完成的内容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9DA6B4"/>
                </a:solidFill>
                <a:latin typeface="Microsoft YaHei"/>
                <a:ea typeface="Microsoft YaHei"/>
                <a:cs typeface="Microsoft YaHei"/>
              </a:rPr>
              <a:t>直接删除本占位框，粘贴你的原有内容即可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14416" y="274320"/>
            <a:ext cx="0" cy="6309360"/>
          </a:xfrm>
          <a:prstGeom prst="line">
            <a:avLst/>
          </a:prstGeom>
          <a:ln w="9525">
            <a:solidFill>
              <a:srgbClr val="C4D3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0" y="2011680"/>
            <a:ext cx="237744" cy="2834640"/>
          </a:xfrm>
          <a:prstGeom prst="rect">
            <a:avLst/>
          </a:prstGeom>
          <a:noFill/>
        </p:spPr>
        <p:txBody>
          <a:bodyPr wrap="square" vert="vert270" anchor="ctr">
            <a:spAutoFit/>
          </a:bodyPr>
          <a:lstStyle/>
          <a:p>
            <a:pPr algn="ctr"/>
            <a:r>
              <a:rPr sz="800" b="1">
                <a:solidFill>
                  <a:srgbClr val="9DA6B4"/>
                </a:solidFill>
                <a:latin typeface="Microsoft YaHei"/>
                <a:ea typeface="Microsoft YaHei"/>
                <a:cs typeface="Microsoft YaHei"/>
              </a:rPr>
              <a:t>今天：能力融合　→　明天：形态收敛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64592"/>
            <a:ext cx="6309360" cy="6528816"/>
          </a:xfrm>
          <a:prstGeom prst="roundRect">
            <a:avLst>
              <a:gd name="adj" fmla="val 1799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0" y="164592"/>
            <a:ext cx="50292" cy="65288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2136" y="255995"/>
            <a:ext cx="1261872" cy="254623"/>
          </a:xfrm>
          <a:prstGeom prst="roundRect">
            <a:avLst>
              <a:gd name="adj" fmla="val 35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2136" y="255995"/>
            <a:ext cx="1261872" cy="254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 · 终局判断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2136" y="549792"/>
            <a:ext cx="5943417" cy="313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8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从代码智能体到个人通用智能：一个内核，千人千面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2136" y="876232"/>
            <a:ext cx="5943417" cy="2023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85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依据：OpenAI Codex 负责人 Tibo 最新访谈（Matthew Berman 专访）　｜　★ 标记为我方推论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2136" y="1130856"/>
            <a:ext cx="1118018" cy="235037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2136" y="1130856"/>
            <a:ext cx="1118018" cy="2350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50" b="1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Codex 用户 2000 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8486" y="1130856"/>
            <a:ext cx="1118018" cy="235037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8486" y="1130856"/>
            <a:ext cx="1118018" cy="2350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50" b="1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推理速度 3 个月 +60%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4836" y="1130856"/>
            <a:ext cx="1118018" cy="235037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4836" y="1130856"/>
            <a:ext cx="1118018" cy="2350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50" b="1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极速模式最高 14 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61185" y="1130856"/>
            <a:ext cx="1118018" cy="235037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61185" y="1130856"/>
            <a:ext cx="1118018" cy="2350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50" b="1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推理成本降约 80%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67535" y="1130856"/>
            <a:ext cx="1118018" cy="235037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67535" y="1130856"/>
            <a:ext cx="1118018" cy="2350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50" b="1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单模型并发 100+ 应用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2136" y="1483412"/>
            <a:ext cx="63093" cy="104461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68324" y="1444239"/>
            <a:ext cx="5817229" cy="1828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1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① 形态演进：从工具到内核，最终收敛为一个极简应用</a:t>
            </a:r>
          </a:p>
        </p:txBody>
      </p:sp>
      <p:sp>
        <p:nvSpPr>
          <p:cNvPr id="24" name="Chevron 23"/>
          <p:cNvSpPr/>
          <p:nvPr/>
        </p:nvSpPr>
        <p:spPr>
          <a:xfrm>
            <a:off x="5942136" y="1666219"/>
            <a:ext cx="1176695" cy="509247"/>
          </a:xfrm>
          <a:prstGeom prst="chevron">
            <a:avLst>
              <a:gd name="adj" fmla="val 2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7252" y="1692334"/>
            <a:ext cx="886465" cy="1828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9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① 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7252" y="1875141"/>
            <a:ext cx="886465" cy="274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5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命令行 · 插件补全</a:t>
            </a:r>
          </a:p>
          <a:p>
            <a:pPr algn="ctr">
              <a:lnSpc>
                <a:spcPct val="92000"/>
              </a:lnSpc>
            </a:pPr>
            <a:r>
              <a:rPr sz="65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人管每一步</a:t>
            </a:r>
          </a:p>
        </p:txBody>
      </p:sp>
      <p:sp>
        <p:nvSpPr>
          <p:cNvPr id="27" name="Chevron 26"/>
          <p:cNvSpPr/>
          <p:nvPr/>
        </p:nvSpPr>
        <p:spPr>
          <a:xfrm>
            <a:off x="7156688" y="1666219"/>
            <a:ext cx="1176695" cy="509247"/>
          </a:xfrm>
          <a:prstGeom prst="chevron">
            <a:avLst>
              <a:gd name="adj" fmla="val 26000"/>
            </a:avLst>
          </a:prstGeom>
          <a:solidFill>
            <a:srgbClr val="E1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01804" y="1692334"/>
            <a:ext cx="886465" cy="1828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9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② 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01804" y="1875141"/>
            <a:ext cx="886465" cy="274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5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云端沙箱智能体</a:t>
            </a:r>
          </a:p>
          <a:p>
            <a:pPr algn="ctr">
              <a:lnSpc>
                <a:spcPct val="92000"/>
              </a:lnSpc>
            </a:pPr>
            <a:r>
              <a:rPr sz="65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按任务交付成果</a:t>
            </a:r>
          </a:p>
        </p:txBody>
      </p:sp>
      <p:sp>
        <p:nvSpPr>
          <p:cNvPr id="30" name="Chevron 29"/>
          <p:cNvSpPr/>
          <p:nvPr/>
        </p:nvSpPr>
        <p:spPr>
          <a:xfrm>
            <a:off x="8371240" y="1666219"/>
            <a:ext cx="1176695" cy="509247"/>
          </a:xfrm>
          <a:prstGeom prst="chevron">
            <a:avLst>
              <a:gd name="adj" fmla="val 26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16355" y="1692334"/>
            <a:ext cx="886465" cy="1828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9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③ 融合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16355" y="1875141"/>
            <a:ext cx="886465" cy="274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5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并入对话产品</a:t>
            </a:r>
          </a:p>
          <a:p>
            <a:pPr algn="ctr">
              <a:lnSpc>
                <a:spcPct val="92000"/>
              </a:lnSpc>
            </a:pPr>
            <a:r>
              <a:rPr sz="65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能力向全员开放</a:t>
            </a:r>
          </a:p>
        </p:txBody>
      </p:sp>
      <p:sp>
        <p:nvSpPr>
          <p:cNvPr id="33" name="Chevron 32"/>
          <p:cNvSpPr/>
          <p:nvPr/>
        </p:nvSpPr>
        <p:spPr>
          <a:xfrm>
            <a:off x="9585792" y="1666219"/>
            <a:ext cx="1176695" cy="509247"/>
          </a:xfrm>
          <a:prstGeom prst="chevron">
            <a:avLst>
              <a:gd name="adj" fmla="val 26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0907" y="1692334"/>
            <a:ext cx="886465" cy="1828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 内核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0907" y="1875141"/>
            <a:ext cx="886465" cy="274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个人通用智能</a:t>
            </a:r>
          </a:p>
          <a:p>
            <a:pPr algn="ctr">
              <a:lnSpc>
                <a:spcPct val="92000"/>
              </a:lnSpc>
            </a:pPr>
            <a:r>
              <a:rPr sz="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界面自适应 · 语音优先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36951" y="1666219"/>
            <a:ext cx="300325" cy="300325"/>
          </a:xfrm>
          <a:prstGeom prst="roundRect">
            <a:avLst>
              <a:gd name="adj" fmla="val 2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ular Callout 36"/>
          <p:cNvSpPr/>
          <p:nvPr/>
        </p:nvSpPr>
        <p:spPr>
          <a:xfrm>
            <a:off x="11291010" y="1738297"/>
            <a:ext cx="192208" cy="120130"/>
          </a:xfrm>
          <a:prstGeom prst="wedgeRoundRectCallou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88675" y="2005718"/>
            <a:ext cx="996878" cy="1697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终局：融合为</a:t>
            </a:r>
          </a:p>
          <a:p>
            <a:pPr algn="ctr">
              <a:lnSpc>
                <a:spcPct val="105000"/>
              </a:lnSpc>
            </a:pPr>
            <a:r>
              <a:rPr sz="7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一个极简应用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6043086" y="2319101"/>
            <a:ext cx="3205155" cy="339498"/>
          </a:xfrm>
          <a:prstGeom prst="line">
            <a:avLst/>
          </a:prstGeom>
          <a:ln w="19050">
            <a:solidFill>
              <a:srgbClr val="C700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043086" y="2319101"/>
            <a:ext cx="3205155" cy="339498"/>
          </a:xfrm>
          <a:prstGeom prst="line">
            <a:avLst/>
          </a:prstGeom>
          <a:ln w="19050">
            <a:solidFill>
              <a:srgbClr val="9DA6B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7601498" y="2456206"/>
            <a:ext cx="88331" cy="65288"/>
          </a:xfrm>
          <a:prstGeom prst="ellipse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37522" y="2266870"/>
            <a:ext cx="2448031" cy="130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7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底层能力（模型 · 内核 · 云端算力）持续上升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37522" y="2593311"/>
            <a:ext cx="2448031" cy="130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750" b="1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用户可见复杂度 / 界面持续做减法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2136" y="2867521"/>
            <a:ext cx="63093" cy="104461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68324" y="2828348"/>
            <a:ext cx="5817229" cy="1828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1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② 终局架构：一个内核，千人千面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68324" y="3024213"/>
            <a:ext cx="5817229" cy="1697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★ 通用智能体不是把办公与编程拼起来，而是共用一套以代码为底层语言的执行内核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2136" y="3291894"/>
            <a:ext cx="5340242" cy="659410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17849" y="3291894"/>
            <a:ext cx="820216" cy="6594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自适应界面层</a:t>
            </a:r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同一底座</a:t>
            </a:r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千人千面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875922" y="3410588"/>
            <a:ext cx="0" cy="422023"/>
          </a:xfrm>
          <a:prstGeom prst="line">
            <a:avLst/>
          </a:prstGeom>
          <a:ln w="9525">
            <a:solidFill>
              <a:srgbClr val="C4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901159" y="3376769"/>
            <a:ext cx="1012652" cy="48966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1159" y="3376769"/>
            <a:ext cx="1012652" cy="4896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程序员</a:t>
            </a:r>
          </a:p>
          <a:p>
            <a:pPr algn="ctr">
              <a:lnSpc>
                <a:spcPct val="105000"/>
              </a:lnSpc>
            </a:pPr>
            <a:r>
              <a:rPr sz="70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深度开发环境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02143" y="3376769"/>
            <a:ext cx="1012652" cy="48966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02143" y="3376769"/>
            <a:ext cx="1012652" cy="4896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产品经理</a:t>
            </a:r>
          </a:p>
          <a:p>
            <a:pPr algn="ctr">
              <a:lnSpc>
                <a:spcPct val="105000"/>
              </a:lnSpc>
            </a:pPr>
            <a:r>
              <a:rPr sz="70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文档 · 需求看板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03126" y="3376769"/>
            <a:ext cx="1012652" cy="48966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3126" y="3376769"/>
            <a:ext cx="1012652" cy="4896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销售 / 市场</a:t>
            </a:r>
          </a:p>
          <a:p>
            <a:pPr algn="ctr">
              <a:lnSpc>
                <a:spcPct val="105000"/>
              </a:lnSpc>
            </a:pPr>
            <a:r>
              <a:rPr sz="70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邮件与客户数据台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204109" y="3376769"/>
            <a:ext cx="1012652" cy="48966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04109" y="3376769"/>
            <a:ext cx="1012652" cy="4896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普通用户</a:t>
            </a:r>
          </a:p>
          <a:p>
            <a:pPr algn="ctr">
              <a:lnSpc>
                <a:spcPct val="105000"/>
              </a:lnSpc>
            </a:pPr>
            <a:r>
              <a:rPr sz="70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一个简洁对话框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2136" y="3983949"/>
            <a:ext cx="5340242" cy="659410"/>
          </a:xfrm>
          <a:prstGeom prst="roundRect">
            <a:avLst>
              <a:gd name="adj" fmla="val 10000"/>
            </a:avLst>
          </a:prstGeom>
          <a:solidFill>
            <a:srgbClr val="E1EAF7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17849" y="3983949"/>
            <a:ext cx="820216" cy="6594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统一智能体内核</a:t>
            </a:r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Agent Harness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875922" y="4102643"/>
            <a:ext cx="0" cy="422022"/>
          </a:xfrm>
          <a:prstGeom prst="line">
            <a:avLst/>
          </a:prstGeom>
          <a:ln w="9525">
            <a:solidFill>
              <a:srgbClr val="C4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6901159" y="4042708"/>
            <a:ext cx="1829714" cy="40478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DA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7084131" y="4115570"/>
            <a:ext cx="1244205" cy="275255"/>
          </a:xfrm>
          <a:prstGeom prst="line">
            <a:avLst/>
          </a:prstGeom>
          <a:ln w="9525">
            <a:solidFill>
              <a:srgbClr val="9DA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7193913" y="4107474"/>
            <a:ext cx="1244206" cy="291446"/>
          </a:xfrm>
          <a:prstGeom prst="line">
            <a:avLst/>
          </a:prstGeom>
          <a:ln w="9525">
            <a:solidFill>
              <a:srgbClr val="9DA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010942" y="4156048"/>
            <a:ext cx="1610149" cy="226681"/>
          </a:xfrm>
          <a:prstGeom prst="line">
            <a:avLst/>
          </a:prstGeom>
          <a:ln w="9525">
            <a:solidFill>
              <a:srgbClr val="9DA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742828" y="4075091"/>
            <a:ext cx="219566" cy="340021"/>
          </a:xfrm>
          <a:prstGeom prst="line">
            <a:avLst/>
          </a:prstGeom>
          <a:ln w="9525">
            <a:solidFill>
              <a:srgbClr val="9DA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980026" y="4164144"/>
            <a:ext cx="529986" cy="161914"/>
          </a:xfrm>
          <a:prstGeom prst="roundRect">
            <a:avLst>
              <a:gd name="adj" fmla="val 30000"/>
            </a:avLst>
          </a:prstGeom>
          <a:solidFill>
            <a:srgbClr val="F0F3F8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80026" y="4164144"/>
            <a:ext cx="529986" cy="1619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5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技能 Skills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66797" y="4164144"/>
            <a:ext cx="529986" cy="161914"/>
          </a:xfrm>
          <a:prstGeom prst="roundRect">
            <a:avLst>
              <a:gd name="adj" fmla="val 30000"/>
            </a:avLst>
          </a:prstGeom>
          <a:solidFill>
            <a:srgbClr val="F0F3F8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66797" y="4164144"/>
            <a:ext cx="529986" cy="1619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5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记忆 Memory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53567" y="4164144"/>
            <a:ext cx="529986" cy="161914"/>
          </a:xfrm>
          <a:prstGeom prst="roundRect">
            <a:avLst>
              <a:gd name="adj" fmla="val 30000"/>
            </a:avLst>
          </a:prstGeom>
          <a:solidFill>
            <a:srgbClr val="F0F3F8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53567" y="4164144"/>
            <a:ext cx="529986" cy="1619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5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子智能体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01159" y="4460552"/>
            <a:ext cx="1829714" cy="1566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0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今天：用户手工维护，体验被反复打断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8831823" y="4164144"/>
            <a:ext cx="302849" cy="161914"/>
          </a:xfrm>
          <a:prstGeom prst="rightArrow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235622" y="4042708"/>
            <a:ext cx="1829714" cy="40478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35622" y="4042708"/>
            <a:ext cx="1829714" cy="4047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模型自主管理，用户不再介入</a:t>
            </a:r>
          </a:p>
          <a:p>
            <a:pPr algn="ctr">
              <a:lnSpc>
                <a:spcPct val="110000"/>
              </a:lnSpc>
            </a:pPr>
            <a:r>
              <a:rPr sz="650" b="0">
                <a:solidFill>
                  <a:srgbClr val="C9D4E8"/>
                </a:solidFill>
                <a:latin typeface="Microsoft YaHei"/>
                <a:ea typeface="Microsoft YaHei"/>
                <a:cs typeface="Microsoft YaHei"/>
              </a:rPr>
              <a:t>自主决定记什么 · 用什么技能</a:t>
            </a:r>
          </a:p>
          <a:p>
            <a:pPr algn="ctr">
              <a:lnSpc>
                <a:spcPct val="110000"/>
              </a:lnSpc>
            </a:pPr>
            <a:r>
              <a:rPr sz="650" b="0">
                <a:solidFill>
                  <a:srgbClr val="C9D4E8"/>
                </a:solidFill>
                <a:latin typeface="Microsoft YaHei"/>
                <a:ea typeface="Microsoft YaHei"/>
                <a:cs typeface="Microsoft YaHei"/>
              </a:rPr>
              <a:t>是否派出子智能体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35622" y="4460552"/>
            <a:ext cx="1829714" cy="1566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明天：模型越强，脚手架越少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942136" y="4682532"/>
            <a:ext cx="5340242" cy="548420"/>
          </a:xfrm>
          <a:prstGeom prst="roundRect">
            <a:avLst>
              <a:gd name="adj" fmla="val 10000"/>
            </a:avLst>
          </a:prstGeom>
          <a:solidFill>
            <a:srgbClr val="D6E2F3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017849" y="4682532"/>
            <a:ext cx="820216" cy="548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原生多模态模型</a:t>
            </a:r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同一套底座</a:t>
            </a:r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天然具备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875922" y="4781248"/>
            <a:ext cx="0" cy="350989"/>
          </a:xfrm>
          <a:prstGeom prst="line">
            <a:avLst/>
          </a:prstGeom>
          <a:ln w="9525">
            <a:solidFill>
              <a:srgbClr val="C4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6901159" y="4734763"/>
            <a:ext cx="832835" cy="261152"/>
          </a:xfrm>
          <a:prstGeom prst="roundRect">
            <a:avLst>
              <a:gd name="adj" fmla="val 28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01159" y="4734763"/>
            <a:ext cx="832835" cy="261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编程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771851" y="4734763"/>
            <a:ext cx="656173" cy="26115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71851" y="4734763"/>
            <a:ext cx="656173" cy="261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5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465880" y="4734763"/>
            <a:ext cx="656173" cy="26115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65880" y="4734763"/>
            <a:ext cx="656173" cy="261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5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搜索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159910" y="4734763"/>
            <a:ext cx="656173" cy="26115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59910" y="4734763"/>
            <a:ext cx="656173" cy="261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5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调研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853940" y="4734763"/>
            <a:ext cx="656173" cy="26115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853940" y="4734763"/>
            <a:ext cx="656173" cy="261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5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语音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547969" y="4734763"/>
            <a:ext cx="656173" cy="26115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547969" y="4734763"/>
            <a:ext cx="656173" cy="261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5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视觉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01159" y="5022031"/>
            <a:ext cx="4315602" cy="1566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7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★ 编程是穿透所有场景的核心能力：办公任务的天花板，由代码能力决定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942136" y="5270126"/>
            <a:ext cx="5340242" cy="496190"/>
          </a:xfrm>
          <a:prstGeom prst="roundRect">
            <a:avLst>
              <a:gd name="adj" fmla="val 10000"/>
            </a:avLst>
          </a:prstGeom>
          <a:solidFill>
            <a:srgbClr val="E1EAF7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017849" y="5270126"/>
            <a:ext cx="820216" cy="496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云端执行层</a:t>
            </a:r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端侧轻交互</a:t>
            </a:r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云端重执行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6875922" y="5359440"/>
            <a:ext cx="0" cy="317561"/>
          </a:xfrm>
          <a:prstGeom prst="line">
            <a:avLst/>
          </a:prstGeom>
          <a:ln w="9525">
            <a:solidFill>
              <a:srgbClr val="C4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6901159" y="5361529"/>
            <a:ext cx="1261872" cy="287267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901159" y="5361529"/>
            <a:ext cx="1261872" cy="2872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5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云端沙箱集群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200887" y="5361529"/>
            <a:ext cx="1261872" cy="287267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200887" y="5361529"/>
            <a:ext cx="1261872" cy="2872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5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百级应用并发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500616" y="5361529"/>
            <a:ext cx="1716145" cy="287267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500616" y="5361529"/>
            <a:ext cx="1716145" cy="2872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5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笔记本成为物理瓶颈 · 终端仅做轻交互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942136" y="5798960"/>
            <a:ext cx="5340242" cy="254623"/>
          </a:xfrm>
          <a:prstGeom prst="roundRect">
            <a:avLst>
              <a:gd name="adj" fmla="val 30000"/>
            </a:avLst>
          </a:prstGeom>
          <a:solidFill>
            <a:srgbClr val="F0F3F8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942136" y="5798960"/>
            <a:ext cx="5340242" cy="254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50" b="1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↻ 递归自我改进飞轮：模型优化推理栈与内核 → 运行成本降约 80% → 释放算力 → 训练更强模型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1355567" y="3291894"/>
            <a:ext cx="511058" cy="2761689"/>
          </a:xfrm>
          <a:prstGeom prst="roundRect">
            <a:avLst>
              <a:gd name="adj" fmla="val 1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 vert="vert27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 = 人工智能操作数字世界的底层机器语言</a:t>
            </a:r>
          </a:p>
        </p:txBody>
      </p:sp>
      <p:sp>
        <p:nvSpPr>
          <p:cNvPr id="105" name="Pentagon 104"/>
          <p:cNvSpPr/>
          <p:nvPr/>
        </p:nvSpPr>
        <p:spPr>
          <a:xfrm>
            <a:off x="5942136" y="6105814"/>
            <a:ext cx="5943417" cy="274210"/>
          </a:xfrm>
          <a:prstGeom prst="homePlate">
            <a:avLst>
              <a:gd name="adj" fmla="val 14000"/>
            </a:avLst>
          </a:prstGeom>
          <a:solidFill>
            <a:srgbClr val="FB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973683" y="6105814"/>
            <a:ext cx="1545793" cy="274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00" b="1">
                <a:solidFill>
                  <a:srgbClr val="8E0008"/>
                </a:solidFill>
                <a:latin typeface="Microsoft YaHei"/>
                <a:ea typeface="Microsoft YaHei"/>
                <a:cs typeface="Microsoft YaHei"/>
              </a:rPr>
              <a:t>程序员</a:t>
            </a:r>
          </a:p>
          <a:p>
            <a:pPr algn="ctr">
              <a:lnSpc>
                <a:spcPct val="95000"/>
              </a:lnSpc>
            </a:pPr>
            <a:r>
              <a:rPr sz="700" b="1">
                <a:solidFill>
                  <a:srgbClr val="8E0008"/>
                </a:solidFill>
                <a:latin typeface="Microsoft YaHei"/>
                <a:ea typeface="Microsoft YaHei"/>
                <a:cs typeface="Microsoft YaHei"/>
              </a:rPr>
              <a:t>首批 · 2000 万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19476" y="6105814"/>
            <a:ext cx="1482699" cy="274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1">
                <a:solidFill>
                  <a:srgbClr val="8E0008"/>
                </a:solidFill>
                <a:latin typeface="Microsoft YaHei"/>
                <a:ea typeface="Microsoft YaHei"/>
                <a:cs typeface="Microsoft YaHei"/>
              </a:rPr>
              <a:t>产品 · 设计 · 数据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002176" y="6105814"/>
            <a:ext cx="1482699" cy="274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1">
                <a:solidFill>
                  <a:srgbClr val="8E0008"/>
                </a:solidFill>
                <a:latin typeface="Microsoft YaHei"/>
                <a:ea typeface="Microsoft YaHei"/>
                <a:cs typeface="Microsoft YaHei"/>
              </a:rPr>
              <a:t>销售 · 市场 · 财务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484876" y="6105814"/>
            <a:ext cx="1135684" cy="274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8E0008"/>
                </a:solidFill>
                <a:latin typeface="Microsoft YaHei"/>
                <a:ea typeface="Microsoft YaHei"/>
                <a:cs typeface="Microsoft YaHei"/>
              </a:rPr>
              <a:t>所有人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7487930" y="6144987"/>
            <a:ext cx="0" cy="195864"/>
          </a:xfrm>
          <a:prstGeom prst="line">
            <a:avLst/>
          </a:prstGeom>
          <a:ln w="9525">
            <a:solidFill>
              <a:srgbClr val="EEC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8970629" y="6144987"/>
            <a:ext cx="0" cy="195864"/>
          </a:xfrm>
          <a:prstGeom prst="line">
            <a:avLst/>
          </a:prstGeom>
          <a:ln w="9525">
            <a:solidFill>
              <a:srgbClr val="EEC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453329" y="6144987"/>
            <a:ext cx="0" cy="195864"/>
          </a:xfrm>
          <a:prstGeom prst="line">
            <a:avLst/>
          </a:prstGeom>
          <a:ln w="9525">
            <a:solidFill>
              <a:srgbClr val="EEC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5942136" y="6419197"/>
            <a:ext cx="5943417" cy="261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编码不再是职业技能，而是全员可无感调用的底层能力：程序员只是最早的体验群体。</a:t>
            </a:r>
          </a:p>
          <a:p>
            <a:pPr algn="l">
              <a:lnSpc>
                <a:spcPct val="115000"/>
              </a:lnSpc>
            </a:pPr>
            <a:r>
              <a:rPr sz="650" b="0">
                <a:solidFill>
                  <a:srgbClr val="9DA6B4"/>
                </a:solidFill>
                <a:latin typeface="Microsoft YaHei"/>
                <a:ea typeface="Microsoft YaHei"/>
                <a:cs typeface="Microsoft YaHei"/>
              </a:rPr>
              <a:t>资料来源：Matthew Berman 专访 OpenAI Codex 负责人 Tibo Sottiaux（2026）；★ 为我方推论，非受访者原话。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11183112" cy="6309360"/>
          </a:xfrm>
          <a:prstGeom prst="roundRect">
            <a:avLst>
              <a:gd name="adj" fmla="val 1799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50292" cy="63093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5512" y="362651"/>
            <a:ext cx="2236622" cy="246065"/>
          </a:xfrm>
          <a:prstGeom prst="roundRect">
            <a:avLst>
              <a:gd name="adj" fmla="val 35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512" y="362651"/>
            <a:ext cx="2236622" cy="2460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 · 终局判断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512" y="646572"/>
            <a:ext cx="10534491" cy="3028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202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从代码智能体到个人通用智能：一个内核，千人千面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512" y="962040"/>
            <a:ext cx="10534491" cy="195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依据：OpenAI Codex 负责人 Tibo 最新访谈（Matthew Berman 专访）　｜　★ 标记为我方推论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512" y="1208105"/>
            <a:ext cx="1981647" cy="22713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512" y="1208105"/>
            <a:ext cx="1981647" cy="2271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840" b="1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Codex 用户 2000 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3723" y="1208105"/>
            <a:ext cx="1981647" cy="22713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3723" y="1208105"/>
            <a:ext cx="1981647" cy="2271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840" b="1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推理速度 3 个月 +60%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1934" y="1208105"/>
            <a:ext cx="1981647" cy="22713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934" y="1208105"/>
            <a:ext cx="1981647" cy="2271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840" b="1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极速模式最高 14 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20145" y="1208105"/>
            <a:ext cx="1981647" cy="22713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0145" y="1208105"/>
            <a:ext cx="1981647" cy="2271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840" b="1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推理成本降约 80%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58356" y="1208105"/>
            <a:ext cx="1981647" cy="22713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8356" y="1208105"/>
            <a:ext cx="1981647" cy="2271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840" b="1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单模型并发 100+ 应用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512" y="1548810"/>
            <a:ext cx="111831" cy="100949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9174" y="1510954"/>
            <a:ext cx="10310829" cy="1766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29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① 形态演进：从工具到内核，最终收敛为一个极简应用</a:t>
            </a:r>
          </a:p>
        </p:txBody>
      </p:sp>
      <p:sp>
        <p:nvSpPr>
          <p:cNvPr id="20" name="Chevron 19"/>
          <p:cNvSpPr/>
          <p:nvPr/>
        </p:nvSpPr>
        <p:spPr>
          <a:xfrm>
            <a:off x="905512" y="1725472"/>
            <a:ext cx="2085650" cy="492130"/>
          </a:xfrm>
          <a:prstGeom prst="chevron">
            <a:avLst>
              <a:gd name="adj" fmla="val 2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2723" y="1750710"/>
            <a:ext cx="1571227" cy="1766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101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① 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2723" y="1927372"/>
            <a:ext cx="1571227" cy="2649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3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命令行 · 插件补全</a:t>
            </a:r>
          </a:p>
          <a:p>
            <a:pPr algn="ctr">
              <a:lnSpc>
                <a:spcPct val="92000"/>
              </a:lnSpc>
            </a:pPr>
            <a:r>
              <a:rPr sz="73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人管每一步</a:t>
            </a:r>
          </a:p>
        </p:txBody>
      </p:sp>
      <p:sp>
        <p:nvSpPr>
          <p:cNvPr id="23" name="Chevron 22"/>
          <p:cNvSpPr/>
          <p:nvPr/>
        </p:nvSpPr>
        <p:spPr>
          <a:xfrm>
            <a:off x="3058261" y="1725472"/>
            <a:ext cx="2085650" cy="492130"/>
          </a:xfrm>
          <a:prstGeom prst="chevron">
            <a:avLst>
              <a:gd name="adj" fmla="val 26000"/>
            </a:avLst>
          </a:prstGeom>
          <a:solidFill>
            <a:srgbClr val="E1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5472" y="1750710"/>
            <a:ext cx="1571227" cy="1766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101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② 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5472" y="1927372"/>
            <a:ext cx="1571227" cy="2649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3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云端沙箱智能体</a:t>
            </a:r>
          </a:p>
          <a:p>
            <a:pPr algn="ctr">
              <a:lnSpc>
                <a:spcPct val="92000"/>
              </a:lnSpc>
            </a:pPr>
            <a:r>
              <a:rPr sz="73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按任务交付成果</a:t>
            </a:r>
          </a:p>
        </p:txBody>
      </p:sp>
      <p:sp>
        <p:nvSpPr>
          <p:cNvPr id="26" name="Chevron 25"/>
          <p:cNvSpPr/>
          <p:nvPr/>
        </p:nvSpPr>
        <p:spPr>
          <a:xfrm>
            <a:off x="5211010" y="1725472"/>
            <a:ext cx="2085650" cy="492130"/>
          </a:xfrm>
          <a:prstGeom prst="chevron">
            <a:avLst>
              <a:gd name="adj" fmla="val 26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68221" y="1750710"/>
            <a:ext cx="1571227" cy="1766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101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③ 融合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8221" y="1927372"/>
            <a:ext cx="1571227" cy="2649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3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并入对话产品</a:t>
            </a:r>
          </a:p>
          <a:p>
            <a:pPr algn="ctr">
              <a:lnSpc>
                <a:spcPct val="92000"/>
              </a:lnSpc>
            </a:pPr>
            <a:r>
              <a:rPr sz="73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能力向全员开放</a:t>
            </a:r>
          </a:p>
        </p:txBody>
      </p:sp>
      <p:sp>
        <p:nvSpPr>
          <p:cNvPr id="29" name="Chevron 28"/>
          <p:cNvSpPr/>
          <p:nvPr/>
        </p:nvSpPr>
        <p:spPr>
          <a:xfrm>
            <a:off x="7363759" y="1725472"/>
            <a:ext cx="2085650" cy="492130"/>
          </a:xfrm>
          <a:prstGeom prst="chevron">
            <a:avLst>
              <a:gd name="adj" fmla="val 26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970" y="1750710"/>
            <a:ext cx="1571227" cy="1766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101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 内核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970" y="1927372"/>
            <a:ext cx="1571227" cy="2649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3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个人通用智能</a:t>
            </a:r>
          </a:p>
          <a:p>
            <a:pPr algn="ctr">
              <a:lnSpc>
                <a:spcPct val="92000"/>
              </a:lnSpc>
            </a:pPr>
            <a:r>
              <a:rPr sz="73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界面自适应 · 语音优先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11422" y="1725472"/>
            <a:ext cx="290230" cy="290230"/>
          </a:xfrm>
          <a:prstGeom prst="roundRect">
            <a:avLst>
              <a:gd name="adj" fmla="val 2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ular Callout 32"/>
          <p:cNvSpPr/>
          <p:nvPr/>
        </p:nvSpPr>
        <p:spPr>
          <a:xfrm>
            <a:off x="10463663" y="1795128"/>
            <a:ext cx="185747" cy="116092"/>
          </a:xfrm>
          <a:prstGeom prst="wedgeRoundRectCallou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73071" y="2053559"/>
            <a:ext cx="1766931" cy="1640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终局：融合为</a:t>
            </a:r>
          </a:p>
          <a:p>
            <a:pPr algn="ctr">
              <a:lnSpc>
                <a:spcPct val="105000"/>
              </a:lnSpc>
            </a:pPr>
            <a:r>
              <a:rPr sz="78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一个极简应用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084441" y="2356408"/>
            <a:ext cx="5681021" cy="328087"/>
          </a:xfrm>
          <a:prstGeom prst="line">
            <a:avLst/>
          </a:prstGeom>
          <a:ln w="19050">
            <a:solidFill>
              <a:srgbClr val="C700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4441" y="2356408"/>
            <a:ext cx="5681021" cy="328087"/>
          </a:xfrm>
          <a:prstGeom prst="line">
            <a:avLst/>
          </a:prstGeom>
          <a:ln w="19050">
            <a:solidFill>
              <a:srgbClr val="9DA6B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846670" y="2488905"/>
            <a:ext cx="156563" cy="63093"/>
          </a:xfrm>
          <a:prstGeom prst="ellipse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00956" y="2305933"/>
            <a:ext cx="4339047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84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底层能力（模型 · 内核 · 云端算力）持续上升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0956" y="2621401"/>
            <a:ext cx="4339047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840" b="1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用户可见复杂度 / 界面持续做减法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512" y="2886395"/>
            <a:ext cx="111831" cy="100949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9174" y="2848538"/>
            <a:ext cx="10310829" cy="1766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29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② 终局架构：一个内核，千人千面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9174" y="3037819"/>
            <a:ext cx="10310829" cy="1640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★ 通用智能体不是把办公与编程拼起来，而是共用一套以代码为底层语言的执行内核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5512" y="3296503"/>
            <a:ext cx="9465385" cy="637245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9709" y="3296503"/>
            <a:ext cx="1453804" cy="6372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自适应界面层</a:t>
            </a:r>
          </a:p>
          <a:p>
            <a:pPr algn="ctr">
              <a:lnSpc>
                <a:spcPct val="100000"/>
              </a:lnSpc>
            </a:pPr>
            <a:r>
              <a:rPr sz="73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同一底座</a:t>
            </a:r>
          </a:p>
          <a:p>
            <a:pPr algn="ctr">
              <a:lnSpc>
                <a:spcPct val="100000"/>
              </a:lnSpc>
            </a:pPr>
            <a:r>
              <a:rPr sz="73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千人千面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560612" y="3411207"/>
            <a:ext cx="0" cy="407837"/>
          </a:xfrm>
          <a:prstGeom prst="line">
            <a:avLst/>
          </a:prstGeom>
          <a:ln w="9525">
            <a:solidFill>
              <a:srgbClr val="C4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2605345" y="3378525"/>
            <a:ext cx="1794889" cy="4732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05345" y="3378525"/>
            <a:ext cx="1794889" cy="4732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程序员</a:t>
            </a:r>
          </a:p>
          <a:p>
            <a:pPr algn="ctr">
              <a:lnSpc>
                <a:spcPct val="105000"/>
              </a:lnSpc>
            </a:pPr>
            <a:r>
              <a:rPr sz="78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深度开发环境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56798" y="3378525"/>
            <a:ext cx="1794889" cy="4732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56798" y="3378525"/>
            <a:ext cx="1794889" cy="4732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产品经理</a:t>
            </a:r>
          </a:p>
          <a:p>
            <a:pPr algn="ctr">
              <a:lnSpc>
                <a:spcPct val="105000"/>
              </a:lnSpc>
            </a:pPr>
            <a:r>
              <a:rPr sz="78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文档 · 需求看板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08251" y="3378525"/>
            <a:ext cx="1794889" cy="4732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08251" y="3378525"/>
            <a:ext cx="1794889" cy="4732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销售 / 市场</a:t>
            </a:r>
          </a:p>
          <a:p>
            <a:pPr algn="ctr">
              <a:lnSpc>
                <a:spcPct val="105000"/>
              </a:lnSpc>
            </a:pPr>
            <a:r>
              <a:rPr sz="78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邮件与客户数据台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59704" y="3378525"/>
            <a:ext cx="1794889" cy="4732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59704" y="3378525"/>
            <a:ext cx="1794889" cy="4732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普通用户</a:t>
            </a:r>
          </a:p>
          <a:p>
            <a:pPr algn="ctr">
              <a:lnSpc>
                <a:spcPct val="105000"/>
              </a:lnSpc>
            </a:pPr>
            <a:r>
              <a:rPr sz="78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一个简洁对话框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5512" y="3965295"/>
            <a:ext cx="9465385" cy="637245"/>
          </a:xfrm>
          <a:prstGeom prst="roundRect">
            <a:avLst>
              <a:gd name="adj" fmla="val 10000"/>
            </a:avLst>
          </a:prstGeom>
          <a:solidFill>
            <a:srgbClr val="E1EAF7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9709" y="3965295"/>
            <a:ext cx="1453804" cy="6372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统一智能体内核</a:t>
            </a:r>
          </a:p>
          <a:p>
            <a:pPr algn="ctr">
              <a:lnSpc>
                <a:spcPct val="100000"/>
              </a:lnSpc>
            </a:pPr>
            <a:r>
              <a:rPr sz="73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Agent Harness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560612" y="4079999"/>
            <a:ext cx="0" cy="407837"/>
          </a:xfrm>
          <a:prstGeom prst="line">
            <a:avLst/>
          </a:prstGeom>
          <a:ln w="9525">
            <a:solidFill>
              <a:srgbClr val="C4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2605345" y="4022079"/>
            <a:ext cx="3243102" cy="3911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DA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2929655" y="4092492"/>
            <a:ext cx="2205309" cy="266002"/>
          </a:xfrm>
          <a:prstGeom prst="line">
            <a:avLst/>
          </a:prstGeom>
          <a:ln w="9525">
            <a:solidFill>
              <a:srgbClr val="9DA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3124241" y="4084668"/>
            <a:ext cx="2205310" cy="281650"/>
          </a:xfrm>
          <a:prstGeom prst="line">
            <a:avLst/>
          </a:prstGeom>
          <a:ln w="9525">
            <a:solidFill>
              <a:srgbClr val="9DA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799931" y="4131610"/>
            <a:ext cx="2853930" cy="219061"/>
          </a:xfrm>
          <a:prstGeom prst="line">
            <a:avLst/>
          </a:prstGeom>
          <a:ln w="9525">
            <a:solidFill>
              <a:srgbClr val="9DA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097172" y="4053374"/>
            <a:ext cx="389172" cy="328591"/>
          </a:xfrm>
          <a:prstGeom prst="line">
            <a:avLst/>
          </a:prstGeom>
          <a:ln w="9525">
            <a:solidFill>
              <a:srgbClr val="9DA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2745133" y="4139433"/>
            <a:ext cx="939381" cy="156472"/>
          </a:xfrm>
          <a:prstGeom prst="roundRect">
            <a:avLst>
              <a:gd name="adj" fmla="val 30000"/>
            </a:avLst>
          </a:prstGeom>
          <a:solidFill>
            <a:srgbClr val="F0F3F8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5133" y="4139433"/>
            <a:ext cx="939381" cy="156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3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技能 Skills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785163" y="4139433"/>
            <a:ext cx="939381" cy="156472"/>
          </a:xfrm>
          <a:prstGeom prst="roundRect">
            <a:avLst>
              <a:gd name="adj" fmla="val 30000"/>
            </a:avLst>
          </a:prstGeom>
          <a:solidFill>
            <a:srgbClr val="F0F3F8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85163" y="4139433"/>
            <a:ext cx="939381" cy="156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3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记忆 Memory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825192" y="4139433"/>
            <a:ext cx="939381" cy="156472"/>
          </a:xfrm>
          <a:prstGeom prst="roundRect">
            <a:avLst>
              <a:gd name="adj" fmla="val 30000"/>
            </a:avLst>
          </a:prstGeom>
          <a:solidFill>
            <a:srgbClr val="F0F3F8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25192" y="4139433"/>
            <a:ext cx="939381" cy="156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3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子智能体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05345" y="4425878"/>
            <a:ext cx="3243102" cy="151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8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今天：用户手工维护，体验被反复打断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6027377" y="4139433"/>
            <a:ext cx="536789" cy="156472"/>
          </a:xfrm>
          <a:prstGeom prst="rightArrow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743096" y="4022079"/>
            <a:ext cx="3243102" cy="39118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43096" y="4022079"/>
            <a:ext cx="3243102" cy="391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模型自主管理，用户不再介入</a:t>
            </a:r>
          </a:p>
          <a:p>
            <a:pPr algn="ctr">
              <a:lnSpc>
                <a:spcPct val="110000"/>
              </a:lnSpc>
            </a:pPr>
            <a:r>
              <a:rPr sz="730" b="0">
                <a:solidFill>
                  <a:srgbClr val="C9D4E8"/>
                </a:solidFill>
                <a:latin typeface="Microsoft YaHei"/>
                <a:ea typeface="Microsoft YaHei"/>
                <a:cs typeface="Microsoft YaHei"/>
              </a:rPr>
              <a:t>自主决定记什么 · 用什么技能</a:t>
            </a:r>
          </a:p>
          <a:p>
            <a:pPr algn="ctr">
              <a:lnSpc>
                <a:spcPct val="110000"/>
              </a:lnSpc>
            </a:pPr>
            <a:r>
              <a:rPr sz="730" b="0">
                <a:solidFill>
                  <a:srgbClr val="C9D4E8"/>
                </a:solidFill>
                <a:latin typeface="Microsoft YaHei"/>
                <a:ea typeface="Microsoft YaHei"/>
                <a:cs typeface="Microsoft YaHei"/>
              </a:rPr>
              <a:t>是否派出子智能体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43096" y="4425878"/>
            <a:ext cx="3243102" cy="151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8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明天：模型越强，脚手架越少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5512" y="4640397"/>
            <a:ext cx="9465385" cy="529986"/>
          </a:xfrm>
          <a:prstGeom prst="roundRect">
            <a:avLst>
              <a:gd name="adj" fmla="val 10000"/>
            </a:avLst>
          </a:prstGeom>
          <a:solidFill>
            <a:srgbClr val="D6E2F3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39709" y="4640397"/>
            <a:ext cx="1453804" cy="5299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原生多模态模型</a:t>
            </a:r>
          </a:p>
          <a:p>
            <a:pPr algn="ctr">
              <a:lnSpc>
                <a:spcPct val="100000"/>
              </a:lnSpc>
            </a:pPr>
            <a:r>
              <a:rPr sz="73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同一套底座</a:t>
            </a:r>
          </a:p>
          <a:p>
            <a:pPr algn="ctr">
              <a:lnSpc>
                <a:spcPct val="100000"/>
              </a:lnSpc>
            </a:pPr>
            <a:r>
              <a:rPr sz="73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天然具备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560612" y="4735794"/>
            <a:ext cx="0" cy="339191"/>
          </a:xfrm>
          <a:prstGeom prst="line">
            <a:avLst/>
          </a:prstGeom>
          <a:ln w="9525">
            <a:solidFill>
              <a:srgbClr val="C4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2605345" y="4690872"/>
            <a:ext cx="1476170" cy="252374"/>
          </a:xfrm>
          <a:prstGeom prst="roundRect">
            <a:avLst>
              <a:gd name="adj" fmla="val 28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05345" y="4690872"/>
            <a:ext cx="1476170" cy="2523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编程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148614" y="4690872"/>
            <a:ext cx="1163043" cy="25237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48614" y="4690872"/>
            <a:ext cx="1163043" cy="2523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84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78756" y="4690872"/>
            <a:ext cx="1163043" cy="25237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78756" y="4690872"/>
            <a:ext cx="1163043" cy="2523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84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搜索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608899" y="4690872"/>
            <a:ext cx="1163043" cy="25237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08899" y="4690872"/>
            <a:ext cx="1163043" cy="2523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84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调研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839041" y="4690872"/>
            <a:ext cx="1163043" cy="25237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839041" y="4690872"/>
            <a:ext cx="1163043" cy="2523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84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语音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069183" y="4690872"/>
            <a:ext cx="1163043" cy="25237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069183" y="4690872"/>
            <a:ext cx="1163043" cy="2523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84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视觉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05345" y="4968483"/>
            <a:ext cx="7649248" cy="151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78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★ 编程是穿透所有场景的核心能力：办公任务的天花板，由代码能力决定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05512" y="5208239"/>
            <a:ext cx="9465385" cy="479511"/>
          </a:xfrm>
          <a:prstGeom prst="roundRect">
            <a:avLst>
              <a:gd name="adj" fmla="val 10000"/>
            </a:avLst>
          </a:prstGeom>
          <a:solidFill>
            <a:srgbClr val="E1EAF7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39709" y="5208239"/>
            <a:ext cx="1453804" cy="4795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云端执行层</a:t>
            </a:r>
          </a:p>
          <a:p>
            <a:pPr algn="ctr">
              <a:lnSpc>
                <a:spcPct val="100000"/>
              </a:lnSpc>
            </a:pPr>
            <a:r>
              <a:rPr sz="73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端侧轻交互</a:t>
            </a:r>
          </a:p>
          <a:p>
            <a:pPr algn="ctr">
              <a:lnSpc>
                <a:spcPct val="100000"/>
              </a:lnSpc>
            </a:pPr>
            <a:r>
              <a:rPr sz="730" b="0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云端重执行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2560612" y="5294551"/>
            <a:ext cx="0" cy="306887"/>
          </a:xfrm>
          <a:prstGeom prst="line">
            <a:avLst/>
          </a:prstGeom>
          <a:ln w="9525">
            <a:solidFill>
              <a:srgbClr val="C4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2605345" y="5296570"/>
            <a:ext cx="2236622" cy="277611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605345" y="5296570"/>
            <a:ext cx="2236622" cy="2776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84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云端沙箱集群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909066" y="5296570"/>
            <a:ext cx="2236622" cy="277611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909066" y="5296570"/>
            <a:ext cx="2236622" cy="2776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84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百级应用并发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212787" y="5296570"/>
            <a:ext cx="3041806" cy="277611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212787" y="5296570"/>
            <a:ext cx="3041806" cy="2776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840" b="0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笔记本成为物理瓶颈 · 终端仅做轻交互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05512" y="5719297"/>
            <a:ext cx="9465385" cy="246065"/>
          </a:xfrm>
          <a:prstGeom prst="roundRect">
            <a:avLst>
              <a:gd name="adj" fmla="val 30000"/>
            </a:avLst>
          </a:prstGeom>
          <a:solidFill>
            <a:srgbClr val="F0F3F8"/>
          </a:solidFill>
          <a:ln w="9525">
            <a:solidFill>
              <a:srgbClr val="C4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05512" y="5719297"/>
            <a:ext cx="9465385" cy="2460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840" b="1">
                <a:solidFill>
                  <a:srgbClr val="33456B"/>
                </a:solidFill>
                <a:latin typeface="Microsoft YaHei"/>
                <a:ea typeface="Microsoft YaHei"/>
                <a:cs typeface="Microsoft YaHei"/>
              </a:rPr>
              <a:t>↻ 递归自我改进飞轮：模型优化推理栈与内核 → 运行成本降约 80% → 释放算力 → 训练更强模型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500622" y="3296503"/>
            <a:ext cx="905832" cy="2668859"/>
          </a:xfrm>
          <a:prstGeom prst="roundRect">
            <a:avLst>
              <a:gd name="adj" fmla="val 1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 vert="vert27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 = 人工智能操作数字世界的底层机器语言</a:t>
            </a:r>
          </a:p>
        </p:txBody>
      </p:sp>
      <p:sp>
        <p:nvSpPr>
          <p:cNvPr id="101" name="Pentagon 100"/>
          <p:cNvSpPr/>
          <p:nvPr/>
        </p:nvSpPr>
        <p:spPr>
          <a:xfrm>
            <a:off x="905512" y="6015837"/>
            <a:ext cx="10534491" cy="264993"/>
          </a:xfrm>
          <a:prstGeom prst="homePlate">
            <a:avLst>
              <a:gd name="adj" fmla="val 14000"/>
            </a:avLst>
          </a:prstGeom>
          <a:solidFill>
            <a:srgbClr val="FB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61427" y="6015837"/>
            <a:ext cx="2739862" cy="2649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80" b="1">
                <a:solidFill>
                  <a:srgbClr val="8E0008"/>
                </a:solidFill>
                <a:latin typeface="Microsoft YaHei"/>
                <a:ea typeface="Microsoft YaHei"/>
                <a:cs typeface="Microsoft YaHei"/>
              </a:rPr>
              <a:t>程序员</a:t>
            </a:r>
          </a:p>
          <a:p>
            <a:pPr algn="ctr">
              <a:lnSpc>
                <a:spcPct val="95000"/>
              </a:lnSpc>
            </a:pPr>
            <a:r>
              <a:rPr sz="780" b="1">
                <a:solidFill>
                  <a:srgbClr val="8E0008"/>
                </a:solidFill>
                <a:latin typeface="Microsoft YaHei"/>
                <a:ea typeface="Microsoft YaHei"/>
                <a:cs typeface="Microsoft YaHei"/>
              </a:rPr>
              <a:t>首批 · 2000 万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01290" y="6015837"/>
            <a:ext cx="2628031" cy="2649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40" b="1">
                <a:solidFill>
                  <a:srgbClr val="8E0008"/>
                </a:solidFill>
                <a:latin typeface="Microsoft YaHei"/>
                <a:ea typeface="Microsoft YaHei"/>
                <a:cs typeface="Microsoft YaHei"/>
              </a:rPr>
              <a:t>产品 · 设计 · 数据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29321" y="6015837"/>
            <a:ext cx="2628031" cy="2649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8E0008"/>
                </a:solidFill>
                <a:latin typeface="Microsoft YaHei"/>
                <a:ea typeface="Microsoft YaHei"/>
                <a:cs typeface="Microsoft YaHei"/>
              </a:rPr>
              <a:t>销售 · 市场 · 财务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57352" y="6015837"/>
            <a:ext cx="2012960" cy="2649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10" b="1">
                <a:solidFill>
                  <a:srgbClr val="8E0008"/>
                </a:solidFill>
                <a:latin typeface="Microsoft YaHei"/>
                <a:ea typeface="Microsoft YaHei"/>
                <a:cs typeface="Microsoft YaHei"/>
              </a:rPr>
              <a:t>所有人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3645374" y="6053693"/>
            <a:ext cx="0" cy="189281"/>
          </a:xfrm>
          <a:prstGeom prst="line">
            <a:avLst/>
          </a:prstGeom>
          <a:ln w="9525">
            <a:solidFill>
              <a:srgbClr val="EEC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6273405" y="6053693"/>
            <a:ext cx="0" cy="189281"/>
          </a:xfrm>
          <a:prstGeom prst="line">
            <a:avLst/>
          </a:prstGeom>
          <a:ln w="9525">
            <a:solidFill>
              <a:srgbClr val="EEC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901437" y="6053693"/>
            <a:ext cx="0" cy="189281"/>
          </a:xfrm>
          <a:prstGeom prst="line">
            <a:avLst/>
          </a:prstGeom>
          <a:ln w="9525">
            <a:solidFill>
              <a:srgbClr val="EEC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905512" y="6318686"/>
            <a:ext cx="10534491" cy="2523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6B7486"/>
                </a:solidFill>
                <a:latin typeface="Microsoft YaHei"/>
                <a:ea typeface="Microsoft YaHei"/>
                <a:cs typeface="Microsoft YaHei"/>
              </a:rPr>
              <a:t>编码不再是职业技能，而是全员可无感调用的底层能力：程序员只是最早的体验群体。</a:t>
            </a:r>
          </a:p>
          <a:p>
            <a:pPr algn="l">
              <a:lnSpc>
                <a:spcPct val="115000"/>
              </a:lnSpc>
            </a:pPr>
            <a:r>
              <a:rPr sz="730" b="0">
                <a:solidFill>
                  <a:srgbClr val="9DA6B4"/>
                </a:solidFill>
                <a:latin typeface="Microsoft YaHei"/>
                <a:ea typeface="Microsoft YaHei"/>
                <a:cs typeface="Microsoft YaHei"/>
              </a:rPr>
              <a:t>资料来源：Matthew Berman 专访 OpenAI Codex 负责人 Tibo Sottiaux（2026）；★ 为我方推论，非受访者原话。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