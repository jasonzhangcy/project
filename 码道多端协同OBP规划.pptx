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46304"/>
            <a:ext cx="82296" cy="38404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8778240" cy="548640"/>
          </a:xfrm>
          <a:prstGeom prst="rect">
            <a:avLst/>
          </a:prstGeom>
          <a:noFill/>
        </p:spPr>
        <p:txBody>
          <a:bodyPr wrap="square" anchor="ctr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E293B"/>
                </a:solidFill>
                <a:latin typeface="Microsoft YaHei"/>
                <a:ea typeface="Microsoft YaHei"/>
              </a:rPr>
              <a:t>多端协同:一个大脑,五个界面 —— 任务随人走,算力在云端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73152"/>
            <a:ext cx="3200400" cy="548640"/>
          </a:xfrm>
          <a:prstGeom prst="rect">
            <a:avLst/>
          </a:prstGeom>
          <a:noFill/>
        </p:spPr>
        <p:txBody>
          <a:bodyPr wrap="square" anchor="ctr" lIns="45720" rIns="45720" tIns="27432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码道 OBP 规划 · 多端协同能力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676656"/>
            <a:ext cx="11731752" cy="10972"/>
          </a:xfrm>
          <a:prstGeom prst="rect">
            <a:avLst/>
          </a:prstGeom>
          <a:solidFill>
            <a:srgbClr val="D9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49808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</a:rPr>
              <a:t>典型使用场景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024128"/>
            <a:ext cx="1625345" cy="841248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060704"/>
            <a:ext cx="1570481" cy="76809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场景1 下班不断线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IDE任务一键上云,通勤中Mobile语音纠偏,到家手机审批合并PR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7098" y="1024128"/>
            <a:ext cx="1625345" cy="841248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54529" y="1060704"/>
            <a:ext cx="1570481" cy="76809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场景2 会议室里派活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PM在Space拆解Spec派发云端,开发者IDE同步可见、拉回精修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5596" y="1024128"/>
            <a:ext cx="1625345" cy="841248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3027" y="1060704"/>
            <a:ext cx="1570481" cy="76809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场景3 流水线自愈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CI失败,CLI无头模式自动修复开PR,Web总控可见、Mobile批准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24094" y="1024128"/>
            <a:ext cx="1625345" cy="841248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1526" y="1060704"/>
            <a:ext cx="1570481" cy="76809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1E293B"/>
                </a:solidFill>
                <a:latin typeface="Microsoft YaHei"/>
                <a:ea typeface="Microsoft YaHei"/>
              </a:rPr>
              <a:t>场景4 全民开发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运营在Space用自然语言+技能做出应用,云端Agent完成部署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1956816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</a:rPr>
              <a:t>多端布局与协同架构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5728" y="3703320"/>
            <a:ext cx="2377440" cy="111556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1448" y="3776472"/>
            <a:ext cx="2286000" cy="987552"/>
          </a:xfrm>
          <a:prstGeom prst="rect">
            <a:avLst/>
          </a:prstGeom>
          <a:noFill/>
        </p:spPr>
        <p:txBody>
          <a:bodyPr wrap="square" anchor="ctr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码道云端任务中枢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50" b="0">
                <a:solidFill>
                  <a:srgbClr val="C9D4E3"/>
                </a:solidFill>
                <a:latin typeface="Microsoft YaHei"/>
                <a:ea typeface="Microsoft YaHei"/>
              </a:rPr>
              <a:t>统一任务/会话模型 · 上下文与记忆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C9D4E3"/>
                </a:solidFill>
                <a:latin typeface="Microsoft YaHei"/>
                <a:ea typeface="Microsoft YaHei"/>
              </a:rPr>
              <a:t>云端沙箱 · Repo中心 · 知识/技能库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95728" y="2322576"/>
            <a:ext cx="2377440" cy="117043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32304" y="2377440"/>
            <a:ext cx="2304288" cy="1097280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C7000B"/>
                </a:solidFill>
                <a:latin typeface="Microsoft YaHei"/>
                <a:ea typeface="Microsoft YaHei"/>
              </a:rPr>
              <a:t>三条协同规则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1E293B"/>
                </a:solidFill>
                <a:latin typeface="Microsoft YaHei"/>
                <a:ea typeface="Microsoft YaHei"/>
              </a:rPr>
              <a:t>① 任务全局可见:任一端发起,全端同步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1E293B"/>
                </a:solidFill>
                <a:latin typeface="Microsoft YaHei"/>
                <a:ea typeface="Microsoft YaHei"/>
              </a:rPr>
              <a:t>② 双向迁移:本地⇋云端一键接力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E293B"/>
                </a:solidFill>
                <a:latin typeface="Microsoft YaHei"/>
                <a:ea typeface="Microsoft YaHei"/>
              </a:rPr>
              <a:t>③ 人机分工:决策在人/执行在云/交互在端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267712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" y="2267712"/>
            <a:ext cx="2121408" cy="274320"/>
          </a:xfrm>
          <a:prstGeom prst="roundRect">
            <a:avLst>
              <a:gd name="adj" fmla="val 3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2276856"/>
            <a:ext cx="2084831" cy="256032"/>
          </a:xfrm>
          <a:prstGeom prst="rect">
            <a:avLst/>
          </a:prstGeom>
          <a:noFill/>
        </p:spPr>
        <p:txBody>
          <a:bodyPr wrap="square" anchor="ctr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码道 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1" y="2578608"/>
            <a:ext cx="2066543" cy="95097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1F6FEB"/>
                </a:solidFill>
                <a:latin typeface="Microsoft YaHei"/>
                <a:ea typeface="Microsoft YaHei"/>
              </a:rPr>
              <a:t>专业开发者 · 深度创作主场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Agent-first工作台 | 代码知识引擎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多Agent并行 | Spec驱动+自主验证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82312" y="2267712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82312" y="2267712"/>
            <a:ext cx="2121408" cy="274320"/>
          </a:xfrm>
          <a:prstGeom prst="roundRect">
            <a:avLst>
              <a:gd name="adj" fmla="val 3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2276856"/>
            <a:ext cx="2084831" cy="256032"/>
          </a:xfrm>
          <a:prstGeom prst="rect">
            <a:avLst/>
          </a:prstGeom>
          <a:noFill/>
        </p:spPr>
        <p:txBody>
          <a:bodyPr wrap="square" anchor="ctr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码道 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2578608"/>
            <a:ext cx="2066543" cy="95097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7C3AED"/>
                </a:solidFill>
                <a:latin typeface="Microsoft YaHei"/>
                <a:ea typeface="Microsoft YaHei"/>
              </a:rPr>
              <a:t>泛研发/泛办公 · 一站式AI工作台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专家/专家团 | 项目空间 | 技能市场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Computer/Browser Use | 深度研究/多模态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956048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0E80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4320" y="4956048"/>
            <a:ext cx="2121408" cy="274320"/>
          </a:xfrm>
          <a:prstGeom prst="roundRect">
            <a:avLst>
              <a:gd name="adj" fmla="val 35000"/>
            </a:avLst>
          </a:prstGeom>
          <a:solidFill>
            <a:srgbClr val="0E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" y="4965192"/>
            <a:ext cx="2084831" cy="256032"/>
          </a:xfrm>
          <a:prstGeom prst="rect">
            <a:avLst/>
          </a:prstGeom>
          <a:noFill/>
        </p:spPr>
        <p:txBody>
          <a:bodyPr wrap="square" anchor="ctr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码道 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1" y="5266944"/>
            <a:ext cx="2066543" cy="95097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0E8074"/>
                </a:solidFill>
                <a:latin typeface="Microsoft YaHei"/>
                <a:ea typeface="Microsoft YaHei"/>
              </a:rPr>
              <a:t>Repo为中心的云端Agent工场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云端Agent并行 | 云端沙箱 | 长程执行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Automation/Merge Queue | 任务总控台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28315" y="4956048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528315" y="4956048"/>
            <a:ext cx="2121408" cy="274320"/>
          </a:xfrm>
          <a:prstGeom prst="roundRect">
            <a:avLst>
              <a:gd name="adj" fmla="val 35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46603" y="4965192"/>
            <a:ext cx="2084831" cy="256032"/>
          </a:xfrm>
          <a:prstGeom prst="rect">
            <a:avLst/>
          </a:prstGeom>
          <a:noFill/>
        </p:spPr>
        <p:txBody>
          <a:bodyPr wrap="square" anchor="ctr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码道 CLI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55747" y="5266944"/>
            <a:ext cx="2066543" cy="95097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334155"/>
                </a:solidFill>
                <a:latin typeface="Microsoft YaHei"/>
                <a:ea typeface="Microsoft YaHei"/>
              </a:rPr>
              <a:t>终端原生的Agent引擎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无头exec/脚本化 | CI/CD集成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SDK可嵌入 | 企业级沙箱/审计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82312" y="4956048"/>
            <a:ext cx="2121408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82312" y="4956048"/>
            <a:ext cx="2121408" cy="274320"/>
          </a:xfrm>
          <a:prstGeom prst="roundRect">
            <a:avLst>
              <a:gd name="adj" fmla="val 3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599" y="4965192"/>
            <a:ext cx="2084831" cy="256032"/>
          </a:xfrm>
          <a:prstGeom prst="rect">
            <a:avLst/>
          </a:prstGeom>
          <a:noFill/>
        </p:spPr>
        <p:txBody>
          <a:bodyPr wrap="square" anchor="ctr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码道 Mobile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9744" y="5266944"/>
            <a:ext cx="2066543" cy="95097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1">
                <a:solidFill>
                  <a:srgbClr val="D97706"/>
                </a:solidFill>
                <a:latin typeface="Microsoft YaHei"/>
                <a:ea typeface="Microsoft YaHei"/>
              </a:rPr>
              <a:t>随身的Agent指挥端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任务发起(语音) | 远程控制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00" b="0">
                <a:solidFill>
                  <a:srgbClr val="475569"/>
                </a:solidFill>
                <a:latin typeface="Microsoft YaHei"/>
                <a:ea typeface="Microsoft YaHei"/>
              </a:rPr>
              <a:t>审批/PR合并 | 鸿蒙流转/小程序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691640" y="3566160"/>
            <a:ext cx="1005840" cy="137160"/>
          </a:xfrm>
          <a:prstGeom prst="line">
            <a:avLst/>
          </a:prstGeom>
          <a:ln w="22860">
            <a:solidFill>
              <a:srgbClr val="C7000B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34440" y="3566160"/>
            <a:ext cx="1197864" cy="457199"/>
          </a:xfrm>
          <a:prstGeom prst="line">
            <a:avLst/>
          </a:prstGeom>
          <a:ln w="20320">
            <a:solidFill>
              <a:srgbClr val="64748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480560" y="3566160"/>
            <a:ext cx="1005840" cy="137160"/>
          </a:xfrm>
          <a:prstGeom prst="line">
            <a:avLst/>
          </a:prstGeom>
          <a:ln w="22860">
            <a:solidFill>
              <a:srgbClr val="C7000B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754880" y="3566160"/>
            <a:ext cx="1188720" cy="457199"/>
          </a:xfrm>
          <a:prstGeom prst="line">
            <a:avLst/>
          </a:prstGeom>
          <a:ln w="20320">
            <a:solidFill>
              <a:srgbClr val="64748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691640" y="4818888"/>
            <a:ext cx="1005840" cy="137160"/>
          </a:xfrm>
          <a:prstGeom prst="line">
            <a:avLst/>
          </a:prstGeom>
          <a:ln w="22860">
            <a:solidFill>
              <a:srgbClr val="C7000B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34440" y="4498848"/>
            <a:ext cx="1197864" cy="457200"/>
          </a:xfrm>
          <a:prstGeom prst="line">
            <a:avLst/>
          </a:prstGeom>
          <a:ln w="20320">
            <a:solidFill>
              <a:srgbClr val="64748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4480560" y="4818888"/>
            <a:ext cx="1005840" cy="137160"/>
          </a:xfrm>
          <a:prstGeom prst="line">
            <a:avLst/>
          </a:prstGeom>
          <a:ln w="22860">
            <a:solidFill>
              <a:srgbClr val="C7000B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4754880" y="4498848"/>
            <a:ext cx="1188720" cy="457200"/>
          </a:xfrm>
          <a:prstGeom prst="line">
            <a:avLst/>
          </a:prstGeom>
          <a:ln w="20320">
            <a:solidFill>
              <a:srgbClr val="64748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383280" y="4818888"/>
            <a:ext cx="0" cy="137160"/>
          </a:xfrm>
          <a:prstGeom prst="line">
            <a:avLst/>
          </a:prstGeom>
          <a:ln w="22860">
            <a:solidFill>
              <a:srgbClr val="C7000B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840480" y="4818888"/>
            <a:ext cx="0" cy="137160"/>
          </a:xfrm>
          <a:prstGeom prst="line">
            <a:avLst/>
          </a:prstGeom>
          <a:ln w="20320">
            <a:solidFill>
              <a:srgbClr val="64748B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28600" y="6327648"/>
            <a:ext cx="6720840" cy="475488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0">
                <a:solidFill>
                  <a:srgbClr val="475569"/>
                </a:solidFill>
                <a:latin typeface="Microsoft YaHei"/>
                <a:ea typeface="Microsoft YaHei"/>
              </a:rPr>
              <a:t>—— 实线:任务发起/本地⇋云端迁移      ---- 虚线:同步观察/插话纠偏/审批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E293B"/>
                </a:solidFill>
                <a:latin typeface="Microsoft YaHei"/>
                <a:ea typeface="Microsoft YaHei"/>
              </a:rPr>
              <a:t>路径示例① IDE本地会话→一键上云继续执行→Mobile通知审批    ② Web发起→Space同步可见→IDE拉回精修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0" y="749808"/>
            <a:ext cx="4992624" cy="598932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14032" y="822960"/>
            <a:ext cx="4846320" cy="292608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C7000B"/>
                </a:solidFill>
                <a:latin typeface="Microsoft YaHei"/>
                <a:ea typeface="Microsoft YaHei"/>
              </a:rPr>
              <a:t>竞争力规划特性(落地项与关键指标)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14032" y="1188720"/>
            <a:ext cx="4846320" cy="89611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68896" y="1234440"/>
            <a:ext cx="4736592" cy="822960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FD766"/>
                </a:solidFill>
                <a:latin typeface="Microsoft YaHei"/>
                <a:ea typeface="Microsoft YaHei"/>
              </a:rPr>
              <a:t>多端协同(主打)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  <a:latin typeface="Microsoft YaHei"/>
                <a:ea typeface="Microsoft YaHei"/>
              </a:rPr>
              <a:t>· 任一端发起任务,全端100%可见可续,状态同步&lt;3s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Microsoft YaHei"/>
                <a:ea typeface="Microsoft YaHei"/>
              </a:rPr>
              <a:t>· 本地⇋云端双向无损迁移&lt;30s(上下文/变更/环境完整保留)· 开放会话协议接入三方客户端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14032" y="2212848"/>
            <a:ext cx="54864" cy="7680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23760" y="2176272"/>
            <a:ext cx="4718304" cy="85953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F6FEB"/>
                </a:solidFill>
                <a:latin typeface="Microsoft YaHei"/>
                <a:ea typeface="Microsoft YaHei"/>
              </a:rPr>
              <a:t>码道 IDE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1E293B"/>
                </a:solidFill>
                <a:latin typeface="Microsoft YaHei"/>
                <a:ea typeface="Microsoft YaHei"/>
              </a:rPr>
              <a:t>· 代码生成一次通过率≥80%,Spec+验证闭环下≥90%;同任务Token消耗降低≥50%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1E293B"/>
                </a:solidFill>
                <a:latin typeface="Microsoft YaHei"/>
                <a:ea typeface="Microsoft YaHei"/>
              </a:rPr>
              <a:t>· 代码知识引擎:仓库知识自动生成覆盖率≥95%,大仓任务准确率提升≥20%;单人并行≥5个Agent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14032" y="3113532"/>
            <a:ext cx="54864" cy="7680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3760" y="3076956"/>
            <a:ext cx="4718304" cy="85953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Microsoft YaHei"/>
                <a:ea typeface="Microsoft YaHei"/>
              </a:rPr>
              <a:t>码道 Space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1E293B"/>
                </a:solidFill>
                <a:latin typeface="Microsoft YaHei"/>
                <a:ea typeface="Microsoft YaHei"/>
              </a:rPr>
              <a:t>· 专家团多Agent并行,复杂任务交付周期缩短≥60%;技能市场首年≥1000技能/≥100领域专家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1E293B"/>
                </a:solidFill>
                <a:latin typeface="Microsoft YaHei"/>
                <a:ea typeface="Microsoft YaHei"/>
              </a:rPr>
              <a:t>· Computer/Browser Use任务成功率≥85%;DeepResearch报告一次可用率≥80%;多模态成果交付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14032" y="4014215"/>
            <a:ext cx="54864" cy="768096"/>
          </a:xfrm>
          <a:prstGeom prst="rect">
            <a:avLst/>
          </a:prstGeom>
          <a:solidFill>
            <a:srgbClr val="0E8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23760" y="3977639"/>
            <a:ext cx="4718304" cy="85953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E8074"/>
                </a:solidFill>
                <a:latin typeface="Microsoft YaHei"/>
                <a:ea typeface="Microsoft YaHei"/>
              </a:rPr>
              <a:t>码道 Web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1E293B"/>
                </a:solidFill>
                <a:latin typeface="Microsoft YaHei"/>
                <a:ea typeface="Microsoft YaHei"/>
              </a:rPr>
              <a:t>· 云端沙箱预构建启动&lt;60s;长程任务自主执行≥24h、断点续跑、100%产出验证Artifact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1E293B"/>
                </a:solidFill>
                <a:latin typeface="Microsoft YaHei"/>
                <a:ea typeface="Microsoft YaHei"/>
              </a:rPr>
              <a:t>· Repo中心:代码库实时镜像同步、事件驱动Automation、Agent感知Merge Queue、PR自动评审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14032" y="4914900"/>
            <a:ext cx="54864" cy="7680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23760" y="4878324"/>
            <a:ext cx="4718304" cy="85953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D97706"/>
                </a:solidFill>
                <a:latin typeface="Microsoft YaHei"/>
                <a:ea typeface="Microsoft YaHei"/>
              </a:rPr>
              <a:t>码道 Mobile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1E293B"/>
                </a:solidFill>
                <a:latin typeface="Microsoft YaHei"/>
                <a:ea typeface="Microsoft YaHei"/>
              </a:rPr>
              <a:t>· 任务发起→云端执行&lt;10s;审批推送触达&lt;5s;远程控制本机IDE/CLI会话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1E293B"/>
                </a:solidFill>
                <a:latin typeface="Microsoft YaHei"/>
                <a:ea typeface="Microsoft YaHei"/>
              </a:rPr>
              <a:t>· 鸿蒙元服务卡片+跨设备流转(业界独有);微信小程序零安装查看/审批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14032" y="5815584"/>
            <a:ext cx="54864" cy="76809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23760" y="5779008"/>
            <a:ext cx="4718304" cy="859536"/>
          </a:xfrm>
          <a:prstGeom prst="rect">
            <a:avLst/>
          </a:prstGeom>
          <a:noFill/>
        </p:spPr>
        <p:txBody>
          <a:bodyPr wrap="square" anchor="t" lIns="45720" rIns="45720" tIns="27432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334155"/>
                </a:solidFill>
                <a:latin typeface="Microsoft YaHei"/>
                <a:ea typeface="Microsoft YaHei"/>
              </a:rPr>
              <a:t>码道 CLI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1E293B"/>
                </a:solidFill>
                <a:latin typeface="Microsoft YaHei"/>
                <a:ea typeface="Microsoft YaHei"/>
              </a:rPr>
              <a:t>· 无头模式+Agent SDK,CI/CD开箱即用;流水线失败自动修复率≥50%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50" b="0">
                <a:solidFill>
                  <a:srgbClr val="1E293B"/>
                </a:solidFill>
                <a:latin typeface="Microsoft YaHei"/>
                <a:ea typeface="Microsoft YaHei"/>
              </a:rPr>
              <a:t>· 企业级:分级沙箱/命令审批策略/审计日志100%覆盖;Skills/MCP等扩展与全端互通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